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56"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7"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033" autoAdjust="0"/>
  </p:normalViewPr>
  <p:slideViewPr>
    <p:cSldViewPr snapToGrid="0" snapToObjects="1">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36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Vision: Where does ISUFST want to be in the future? Vision is the destination</a:t>
            </a:r>
          </a:p>
          <a:p>
            <a:r>
              <a:rPr lang="en-PH" dirty="0"/>
              <a:t> Mission: How will the university achieve its vision?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The university promises to provide quality education while continuously improving its services and satisfying students and stakeholders.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A523C-F69F-CAB7-F12C-3C18A812C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6C0E7-23A6-A55F-7166-D4F09E753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A1002-F519-9384-ABF6-AA86688136C7}"/>
              </a:ext>
            </a:extLst>
          </p:cNvPr>
          <p:cNvSpPr>
            <a:spLocks noGrp="1"/>
          </p:cNvSpPr>
          <p:nvPr>
            <p:ph type="body" idx="1"/>
          </p:nvPr>
        </p:nvSpPr>
        <p:spPr/>
        <p:txBody>
          <a:bodyPr/>
          <a:lstStyle/>
          <a:p>
            <a:r>
              <a:rPr lang="en-PH" b="1" dirty="0"/>
              <a:t>You Can End With This</a:t>
            </a:r>
          </a:p>
          <a:p>
            <a:r>
              <a:rPr lang="en-PH" dirty="0"/>
              <a:t>“I am not expecting you to know everything on the first day. My expectation is that you come to class ready to learn, participate, ask questions, and improve. I will do my part as your instructor by teaching and guiding you. I expect you to do your part as students by being responsible for your learning.”</a:t>
            </a:r>
          </a:p>
          <a:p>
            <a:endParaRPr lang="en-PH" dirty="0"/>
          </a:p>
          <a:p>
            <a:r>
              <a:rPr lang="en-PH" dirty="0"/>
              <a:t>What do you expect from me as your instructor?”</a:t>
            </a:r>
          </a:p>
          <a:p>
            <a:endParaRPr lang="en-US" dirty="0"/>
          </a:p>
        </p:txBody>
      </p:sp>
      <p:sp>
        <p:nvSpPr>
          <p:cNvPr id="4" name="Slide Number Placeholder 3">
            <a:extLst>
              <a:ext uri="{FF2B5EF4-FFF2-40B4-BE49-F238E27FC236}">
                <a16:creationId xmlns:a16="http://schemas.microsoft.com/office/drawing/2014/main" id="{D513762C-C0D5-39C2-7CD7-876496E5490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78164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b="0" kern="1200" dirty="0">
                <a:solidFill>
                  <a:schemeClr val="tx1"/>
                </a:solidFill>
                <a:effectLst/>
                <a:latin typeface="+mn-lt"/>
                <a:ea typeface="+mn-ea"/>
                <a:cs typeface="+mn-cs"/>
              </a:rPr>
              <a:t>How many mobile applications have you used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b="0" kern="1200" dirty="0">
                <a:solidFill>
                  <a:schemeClr val="tx1"/>
                </a:solidFill>
                <a:effectLst/>
                <a:latin typeface="+mn-lt"/>
                <a:ea typeface="+mn-ea"/>
                <a:cs typeface="+mn-cs"/>
              </a:rPr>
              <a:t>Where do you think these apps store your account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b="0" kern="1200" dirty="0">
                <a:solidFill>
                  <a:schemeClr val="tx1"/>
                </a:solidFill>
                <a:effectLst/>
                <a:latin typeface="+mn-lt"/>
                <a:ea typeface="+mn-ea"/>
                <a:cs typeface="+mn-cs"/>
              </a:rPr>
              <a:t>Every application stores information inside a database.</a:t>
            </a:r>
          </a:p>
          <a:p>
            <a:endParaRPr lang="en-US" b="0" dirty="0"/>
          </a:p>
          <a:p>
            <a:r>
              <a:rPr lang="en-PH" sz="1200" b="0" kern="1200" dirty="0">
                <a:solidFill>
                  <a:schemeClr val="tx1"/>
                </a:solidFill>
                <a:effectLst/>
                <a:latin typeface="+mn-lt"/>
                <a:ea typeface="+mn-ea"/>
                <a:cs typeface="+mn-cs"/>
              </a:rPr>
              <a:t>Can Facebook work without a database?</a:t>
            </a:r>
          </a:p>
          <a:p>
            <a:r>
              <a:rPr lang="en-PH" sz="1200" b="0" kern="1200" dirty="0">
                <a:solidFill>
                  <a:schemeClr val="tx1"/>
                </a:solidFill>
                <a:effectLst/>
                <a:latin typeface="+mn-lt"/>
                <a:ea typeface="+mn-ea"/>
                <a:cs typeface="+mn-cs"/>
              </a:rPr>
              <a:t>Can banks operate without a database?</a:t>
            </a:r>
          </a:p>
          <a:p>
            <a:r>
              <a:rPr lang="en-PH" sz="1200" b="0" kern="1200" dirty="0">
                <a:solidFill>
                  <a:schemeClr val="tx1"/>
                </a:solidFill>
                <a:effectLst/>
                <a:latin typeface="+mn-lt"/>
                <a:ea typeface="+mn-ea"/>
                <a:cs typeface="+mn-cs"/>
              </a:rPr>
              <a:t>Can hospitals still function without databases?</a:t>
            </a:r>
          </a:p>
          <a:p>
            <a:r>
              <a:rPr lang="en-PH" sz="1200" b="0" kern="1200" dirty="0">
                <a:solidFill>
                  <a:schemeClr val="tx1"/>
                </a:solidFill>
                <a:effectLst/>
                <a:latin typeface="+mn-lt"/>
                <a:ea typeface="+mn-ea"/>
                <a:cs typeface="+mn-cs"/>
              </a:rPr>
              <a:t>Almost every digital system today depends on databases.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30000"/>
              </a:lnSpc>
              <a:buNone/>
            </a:pPr>
            <a:r>
              <a:rPr lang="en-US" sz="1200" i="1" dirty="0">
                <a:solidFill>
                  <a:srgbClr val="FFFFFF"/>
                </a:solidFill>
                <a:latin typeface="Calibri" pitchFamily="34" charset="0"/>
                <a:ea typeface="Calibri" pitchFamily="34" charset="-122"/>
                <a:cs typeface="Calibri" pitchFamily="34" charset="-120"/>
              </a:rPr>
              <a:t>What are these — words, numbers, facts?</a:t>
            </a:r>
            <a:endParaRPr lang="en-US" sz="1200" dirty="0"/>
          </a:p>
          <a:p>
            <a:pPr marL="0" indent="0">
              <a:lnSpc>
                <a:spcPct val="130000"/>
              </a:lnSpc>
              <a:buNone/>
            </a:pPr>
            <a:r>
              <a:rPr lang="en-US" sz="1200" i="1" dirty="0">
                <a:solidFill>
                  <a:srgbClr val="FFFFFF"/>
                </a:solidFill>
                <a:latin typeface="Calibri" pitchFamily="34" charset="0"/>
                <a:ea typeface="Calibri" pitchFamily="34" charset="-122"/>
                <a:cs typeface="Calibri" pitchFamily="34" charset="-120"/>
              </a:rPr>
              <a:t>On their own, they're just pieces of data.</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Everyday Examples</a:t>
            </a:r>
          </a:p>
          <a:p>
            <a:r>
              <a:rPr lang="en-PH" sz="1200" b="0" kern="1200" dirty="0">
                <a:solidFill>
                  <a:schemeClr val="tx1"/>
                </a:solidFill>
                <a:effectLst/>
                <a:latin typeface="+mn-lt"/>
                <a:ea typeface="+mn-ea"/>
                <a:cs typeface="+mn-cs"/>
              </a:rPr>
              <a:t>Student ID</a:t>
            </a:r>
          </a:p>
          <a:p>
            <a:r>
              <a:rPr lang="en-PH" sz="1200" b="0" kern="1200" dirty="0">
                <a:solidFill>
                  <a:schemeClr val="tx1"/>
                </a:solidFill>
                <a:effectLst/>
                <a:latin typeface="+mn-lt"/>
                <a:ea typeface="+mn-ea"/>
                <a:cs typeface="+mn-cs"/>
              </a:rPr>
              <a:t>Employee Number</a:t>
            </a:r>
          </a:p>
          <a:p>
            <a:endParaRPr lang="en-PH"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b="0" kern="1200" dirty="0">
                <a:solidFill>
                  <a:schemeClr val="tx1"/>
                </a:solidFill>
                <a:effectLst/>
                <a:latin typeface="+mn-lt"/>
                <a:ea typeface="+mn-ea"/>
                <a:cs typeface="+mn-cs"/>
              </a:rPr>
              <a:t>Classroom Example ‘Write on the board.’ Maria, 89. </a:t>
            </a:r>
          </a:p>
          <a:p>
            <a:r>
              <a:rPr lang="en-PH" sz="1200" b="0" kern="1200" dirty="0">
                <a:solidFill>
                  <a:schemeClr val="tx1"/>
                </a:solidFill>
                <a:effectLst/>
                <a:latin typeface="+mn-lt"/>
                <a:ea typeface="+mn-ea"/>
                <a:cs typeface="+mn-cs"/>
              </a:rPr>
              <a:t>What does 89 mean?</a:t>
            </a:r>
          </a:p>
          <a:p>
            <a:r>
              <a:rPr lang="en-PH" sz="1200" b="0" kern="1200" dirty="0">
                <a:solidFill>
                  <a:schemeClr val="tx1"/>
                </a:solidFill>
                <a:effectLst/>
                <a:latin typeface="+mn-lt"/>
                <a:ea typeface="+mn-ea"/>
                <a:cs typeface="+mn-cs"/>
              </a:rPr>
              <a:t>Then write</a:t>
            </a:r>
          </a:p>
          <a:p>
            <a:r>
              <a:rPr lang="en-PH" sz="1200" b="0" kern="1200" dirty="0">
                <a:solidFill>
                  <a:schemeClr val="tx1"/>
                </a:solidFill>
                <a:effectLst/>
                <a:latin typeface="+mn-lt"/>
                <a:ea typeface="+mn-ea"/>
                <a:cs typeface="+mn-cs"/>
              </a:rPr>
              <a:t>Maria scored 89 in Database Fundamentals.</a:t>
            </a:r>
          </a:p>
          <a:p>
            <a:r>
              <a:rPr lang="en-PH" sz="1200" b="0" kern="1200" dirty="0">
                <a:solidFill>
                  <a:schemeClr val="tx1"/>
                </a:solidFill>
                <a:effectLst/>
                <a:latin typeface="+mn-lt"/>
                <a:ea typeface="+mn-ea"/>
                <a:cs typeface="+mn-cs"/>
              </a:rPr>
              <a:t>Now it becomes meaningful.</a:t>
            </a:r>
          </a:p>
          <a:p>
            <a:r>
              <a:rPr lang="en-PH" sz="1200" b="0" kern="1200" dirty="0">
                <a:solidFill>
                  <a:schemeClr val="tx1"/>
                </a:solidFill>
                <a:effectLst/>
                <a:latin typeface="+mn-lt"/>
                <a:ea typeface="+mn-ea"/>
                <a:cs typeface="+mn-cs"/>
              </a:rPr>
              <a:t>Data alone has no context.</a:t>
            </a:r>
          </a:p>
          <a:p>
            <a:endParaRPr lang="en-PH" sz="1200" b="0" kern="1200" dirty="0">
              <a:solidFill>
                <a:schemeClr val="tx1"/>
              </a:solidFill>
              <a:effectLst/>
              <a:latin typeface="+mn-lt"/>
              <a:ea typeface="+mn-ea"/>
              <a:cs typeface="+mn-cs"/>
            </a:endParaRPr>
          </a:p>
          <a:p>
            <a:endParaRPr lang="en-PH"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Vince, 26, BSED</a:t>
            </a:r>
          </a:p>
          <a:p>
            <a:r>
              <a:rPr lang="en-US" dirty="0"/>
              <a:t>Grade 9, 30</a:t>
            </a:r>
          </a:p>
          <a:p>
            <a:r>
              <a:rPr lang="en-US" dirty="0"/>
              <a:t>Ask students to give sample data and ask other to transform it into info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Why is information more useful than raw data?</a:t>
            </a:r>
          </a:p>
          <a:p>
            <a:r>
              <a:rPr lang="en-PH" sz="1200" b="0" kern="1200" dirty="0">
                <a:solidFill>
                  <a:schemeClr val="tx1"/>
                </a:solidFill>
                <a:effectLst/>
                <a:latin typeface="+mn-lt"/>
                <a:ea typeface="+mn-ea"/>
                <a:cs typeface="+mn-cs"/>
              </a:rPr>
              <a:t>Ans.</a:t>
            </a:r>
          </a:p>
          <a:p>
            <a:r>
              <a:rPr lang="en-PH" sz="1200" b="0" kern="1200" dirty="0">
                <a:solidFill>
                  <a:schemeClr val="tx1"/>
                </a:solidFill>
                <a:effectLst/>
                <a:latin typeface="+mn-lt"/>
                <a:ea typeface="+mn-ea"/>
                <a:cs typeface="+mn-cs"/>
              </a:rPr>
              <a:t>Easy to understand</a:t>
            </a:r>
          </a:p>
          <a:p>
            <a:r>
              <a:rPr lang="en-PH" sz="1200" b="0" kern="1200" dirty="0">
                <a:solidFill>
                  <a:schemeClr val="tx1"/>
                </a:solidFill>
                <a:effectLst/>
                <a:latin typeface="+mn-lt"/>
                <a:ea typeface="+mn-ea"/>
                <a:cs typeface="+mn-cs"/>
              </a:rPr>
              <a:t>Can support decision-making</a:t>
            </a:r>
          </a:p>
          <a:p>
            <a:r>
              <a:rPr lang="en-PH" sz="1200" b="0" kern="1200" dirty="0">
                <a:solidFill>
                  <a:schemeClr val="tx1"/>
                </a:solidFill>
                <a:effectLst/>
                <a:latin typeface="+mn-lt"/>
                <a:ea typeface="+mn-ea"/>
                <a:cs typeface="+mn-cs"/>
              </a:rPr>
              <a:t>Can be analyzed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Where can we find databases?</a:t>
            </a:r>
          </a:p>
          <a:p>
            <a:r>
              <a:rPr lang="en-PH" sz="1200" b="0" kern="1200" dirty="0">
                <a:solidFill>
                  <a:schemeClr val="tx1"/>
                </a:solidFill>
                <a:effectLst/>
                <a:latin typeface="+mn-lt"/>
                <a:ea typeface="+mn-ea"/>
                <a:cs typeface="+mn-cs"/>
              </a:rPr>
              <a:t>Expected answers</a:t>
            </a:r>
          </a:p>
          <a:p>
            <a:r>
              <a:rPr lang="en-PH" sz="1200" b="0" kern="1200" dirty="0">
                <a:solidFill>
                  <a:schemeClr val="tx1"/>
                </a:solidFill>
                <a:effectLst/>
                <a:latin typeface="+mn-lt"/>
                <a:ea typeface="+mn-ea"/>
                <a:cs typeface="+mn-cs"/>
              </a:rPr>
              <a:t>Schools</a:t>
            </a:r>
          </a:p>
          <a:p>
            <a:r>
              <a:rPr lang="en-PH" sz="1200" b="0" kern="1200" dirty="0">
                <a:solidFill>
                  <a:schemeClr val="tx1"/>
                </a:solidFill>
                <a:effectLst/>
                <a:latin typeface="+mn-lt"/>
                <a:ea typeface="+mn-ea"/>
                <a:cs typeface="+mn-cs"/>
              </a:rPr>
              <a:t>Banks</a:t>
            </a:r>
          </a:p>
          <a:p>
            <a:r>
              <a:rPr lang="en-PH" sz="1200" b="0" kern="1200" dirty="0">
                <a:solidFill>
                  <a:schemeClr val="tx1"/>
                </a:solidFill>
                <a:effectLst/>
                <a:latin typeface="+mn-lt"/>
                <a:ea typeface="+mn-ea"/>
                <a:cs typeface="+mn-cs"/>
              </a:rPr>
              <a:t>Hospitals</a:t>
            </a:r>
          </a:p>
          <a:p>
            <a:r>
              <a:rPr lang="en-PH" sz="1200" b="0" kern="1200" dirty="0">
                <a:solidFill>
                  <a:schemeClr val="tx1"/>
                </a:solidFill>
                <a:effectLst/>
                <a:latin typeface="+mn-lt"/>
                <a:ea typeface="+mn-ea"/>
                <a:cs typeface="+mn-cs"/>
              </a:rPr>
              <a:t>Facebook</a:t>
            </a:r>
          </a:p>
          <a:p>
            <a:r>
              <a:rPr lang="en-PH" sz="1200" b="0" kern="1200" dirty="0">
                <a:solidFill>
                  <a:schemeClr val="tx1"/>
                </a:solidFill>
                <a:effectLst/>
                <a:latin typeface="+mn-lt"/>
                <a:ea typeface="+mn-ea"/>
                <a:cs typeface="+mn-cs"/>
              </a:rPr>
              <a:t>Shopee</a:t>
            </a:r>
          </a:p>
          <a:p>
            <a:r>
              <a:rPr lang="en-PH" sz="1200" b="0" kern="1200" dirty="0">
                <a:solidFill>
                  <a:schemeClr val="tx1"/>
                </a:solidFill>
                <a:effectLst/>
                <a:latin typeface="+mn-lt"/>
                <a:ea typeface="+mn-ea"/>
                <a:cs typeface="+mn-cs"/>
              </a:rPr>
              <a:t>Airlines</a:t>
            </a:r>
          </a:p>
          <a:p>
            <a:r>
              <a:rPr lang="en-PH" sz="1200" b="0" kern="1200" dirty="0">
                <a:solidFill>
                  <a:schemeClr val="tx1"/>
                </a:solidFill>
                <a:effectLst/>
                <a:latin typeface="+mn-lt"/>
                <a:ea typeface="+mn-ea"/>
                <a:cs typeface="+mn-cs"/>
              </a:rPr>
              <a:t>Government offices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Can we easily search millions of student records using Microsoft Excel?</a:t>
            </a:r>
          </a:p>
          <a:p>
            <a:r>
              <a:rPr lang="en-PH" sz="1200" b="0" kern="1200" dirty="0">
                <a:solidFill>
                  <a:schemeClr val="tx1"/>
                </a:solidFill>
                <a:effectLst/>
                <a:latin typeface="+mn-lt"/>
                <a:ea typeface="+mn-ea"/>
                <a:cs typeface="+mn-cs"/>
              </a:rPr>
              <a:t>What if we use MySQL?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Database = Storage</a:t>
            </a:r>
          </a:p>
          <a:p>
            <a:r>
              <a:rPr lang="en-PH" sz="1200" b="0" kern="1200" dirty="0">
                <a:solidFill>
                  <a:schemeClr val="tx1"/>
                </a:solidFill>
                <a:effectLst/>
                <a:latin typeface="+mn-lt"/>
                <a:ea typeface="+mn-ea"/>
                <a:cs typeface="+mn-cs"/>
              </a:rPr>
              <a:t>DBMS = Tool that manages the storage</a:t>
            </a:r>
          </a:p>
          <a:p>
            <a:r>
              <a:rPr lang="en-PH" sz="1200" b="1" kern="1200" dirty="0">
                <a:solidFill>
                  <a:schemeClr val="tx1"/>
                </a:solidFill>
                <a:effectLst/>
                <a:latin typeface="+mn-lt"/>
                <a:ea typeface="+mn-ea"/>
                <a:cs typeface="+mn-cs"/>
              </a:rPr>
              <a:t>Database</a:t>
            </a:r>
            <a:endParaRPr lang="en-PH"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PH" sz="1200" b="1" kern="1200" dirty="0">
                <a:solidFill>
                  <a:schemeClr val="tx1"/>
                </a:solidFill>
                <a:effectLst/>
                <a:latin typeface="+mn-lt"/>
                <a:ea typeface="+mn-ea"/>
                <a:cs typeface="+mn-cs"/>
              </a:rPr>
              <a:t>A filing cabinet</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DBMS</a:t>
            </a:r>
            <a:endParaRPr lang="en-PH"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PH" sz="1200" b="1" kern="1200" dirty="0">
                <a:solidFill>
                  <a:schemeClr val="tx1"/>
                </a:solidFill>
                <a:effectLst/>
                <a:latin typeface="+mn-lt"/>
                <a:ea typeface="+mn-ea"/>
                <a:cs typeface="+mn-cs"/>
              </a:rPr>
              <a:t>The office staff managing the cabinet</a:t>
            </a:r>
            <a:endParaRPr lang="en-PH"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kern="1200" dirty="0">
                <a:solidFill>
                  <a:schemeClr val="tx1"/>
                </a:solidFill>
                <a:effectLst/>
                <a:latin typeface="+mn-lt"/>
                <a:ea typeface="+mn-ea"/>
                <a:cs typeface="+mn-cs"/>
              </a:rPr>
              <a:t>If Facebook stored every user's data in separate text files, what problems would happen?</a:t>
            </a:r>
          </a:p>
          <a:p>
            <a:r>
              <a:rPr lang="en-PH" sz="1200" b="0" kern="1200" dirty="0">
                <a:solidFill>
                  <a:schemeClr val="tx1"/>
                </a:solidFill>
                <a:effectLst/>
                <a:latin typeface="+mn-lt"/>
                <a:ea typeface="+mn-ea"/>
                <a:cs typeface="+mn-cs"/>
              </a:rPr>
              <a:t>Ans.</a:t>
            </a:r>
          </a:p>
          <a:p>
            <a:r>
              <a:rPr lang="en-PH" sz="1200" b="0" kern="1200" dirty="0">
                <a:solidFill>
                  <a:schemeClr val="tx1"/>
                </a:solidFill>
                <a:effectLst/>
                <a:latin typeface="+mn-lt"/>
                <a:ea typeface="+mn-ea"/>
                <a:cs typeface="+mn-cs"/>
              </a:rPr>
              <a:t>Slow</a:t>
            </a:r>
          </a:p>
          <a:p>
            <a:r>
              <a:rPr lang="en-PH" sz="1200" b="0" kern="1200" dirty="0">
                <a:solidFill>
                  <a:schemeClr val="tx1"/>
                </a:solidFill>
                <a:effectLst/>
                <a:latin typeface="+mn-lt"/>
                <a:ea typeface="+mn-ea"/>
                <a:cs typeface="+mn-cs"/>
              </a:rPr>
              <a:t>Duplicate records</a:t>
            </a:r>
          </a:p>
          <a:p>
            <a:r>
              <a:rPr lang="en-PH" sz="1200" b="0" kern="1200" dirty="0">
                <a:solidFill>
                  <a:schemeClr val="tx1"/>
                </a:solidFill>
                <a:effectLst/>
                <a:latin typeface="+mn-lt"/>
                <a:ea typeface="+mn-ea"/>
                <a:cs typeface="+mn-cs"/>
              </a:rPr>
              <a:t>Lost files</a:t>
            </a:r>
          </a:p>
          <a:p>
            <a:r>
              <a:rPr lang="en-PH" sz="1200" b="0" kern="1200" dirty="0">
                <a:solidFill>
                  <a:schemeClr val="tx1"/>
                </a:solidFill>
                <a:effectLst/>
                <a:latin typeface="+mn-lt"/>
                <a:ea typeface="+mn-ea"/>
                <a:cs typeface="+mn-cs"/>
              </a:rPr>
              <a:t>Hard to update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1618-E891-8FED-EBD9-63BF70AED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3250E-E0E3-080E-A113-A0B615CBD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1CB7A-54E4-3455-EC8A-91A483AF1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292890-77EC-ABAB-302E-A1BDBA5FE302}"/>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414820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B2D"/>
          </a:solidFill>
          <a:ln/>
        </p:spPr>
        <p:txBody>
          <a:bodyPr/>
          <a:lstStyle/>
          <a:p>
            <a:endParaRPr lang="en-PH"/>
          </a:p>
        </p:txBody>
      </p:sp>
      <p:sp>
        <p:nvSpPr>
          <p:cNvPr id="3" name="Shape 1"/>
          <p:cNvSpPr/>
          <p:nvPr/>
        </p:nvSpPr>
        <p:spPr>
          <a:xfrm>
            <a:off x="0" y="3246120"/>
            <a:ext cx="12191695" cy="18288"/>
          </a:xfrm>
          <a:prstGeom prst="rect">
            <a:avLst/>
          </a:prstGeom>
          <a:solidFill>
            <a:srgbClr val="16324F"/>
          </a:solidFill>
          <a:ln/>
        </p:spPr>
        <p:txBody>
          <a:bodyPr/>
          <a:lstStyle/>
          <a:p>
            <a:endParaRPr lang="en-PH"/>
          </a:p>
        </p:txBody>
      </p:sp>
      <p:sp>
        <p:nvSpPr>
          <p:cNvPr id="4" name="Text 2"/>
          <p:cNvSpPr/>
          <p:nvPr/>
        </p:nvSpPr>
        <p:spPr>
          <a:xfrm>
            <a:off x="822960" y="2331720"/>
            <a:ext cx="9144000" cy="457200"/>
          </a:xfrm>
          <a:prstGeom prst="rect">
            <a:avLst/>
          </a:prstGeom>
          <a:noFill/>
          <a:ln/>
        </p:spPr>
        <p:txBody>
          <a:bodyPr wrap="square" rtlCol="0" anchor="ctr"/>
          <a:lstStyle/>
          <a:p>
            <a:pPr marL="0" indent="0">
              <a:buNone/>
            </a:pPr>
            <a:r>
              <a:rPr lang="en-US" sz="1500" b="1" kern="0" spc="300" dirty="0">
                <a:solidFill>
                  <a:srgbClr val="2FD4C4"/>
                </a:solidFill>
                <a:latin typeface="Calibri" pitchFamily="34" charset="0"/>
                <a:ea typeface="Calibri" pitchFamily="34" charset="-122"/>
                <a:cs typeface="Calibri" pitchFamily="34" charset="-120"/>
              </a:rPr>
              <a:t>PART 0</a:t>
            </a:r>
            <a:endParaRPr lang="en-US" sz="1500" dirty="0"/>
          </a:p>
        </p:txBody>
      </p:sp>
      <p:sp>
        <p:nvSpPr>
          <p:cNvPr id="5" name="Text 3"/>
          <p:cNvSpPr/>
          <p:nvPr/>
        </p:nvSpPr>
        <p:spPr>
          <a:xfrm>
            <a:off x="777240" y="2743200"/>
            <a:ext cx="10058400" cy="11887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Course Orientation</a:t>
            </a:r>
            <a:endParaRPr lang="en-US" sz="4000" dirty="0"/>
          </a:p>
        </p:txBody>
      </p:sp>
      <p:sp>
        <p:nvSpPr>
          <p:cNvPr id="6" name="Text 4"/>
          <p:cNvSpPr/>
          <p:nvPr/>
        </p:nvSpPr>
        <p:spPr>
          <a:xfrm>
            <a:off x="822960" y="3840480"/>
            <a:ext cx="8686800" cy="548640"/>
          </a:xfrm>
          <a:prstGeom prst="rect">
            <a:avLst/>
          </a:prstGeom>
          <a:noFill/>
          <a:ln/>
        </p:spPr>
        <p:txBody>
          <a:bodyPr wrap="square" rtlCol="0" anchor="ctr"/>
          <a:lstStyle/>
          <a:p>
            <a:pPr marL="0" indent="0">
              <a:buNone/>
            </a:pPr>
            <a:r>
              <a:rPr lang="en-US" sz="1400" dirty="0">
                <a:solidFill>
                  <a:srgbClr val="AEBDCC"/>
                </a:solidFill>
                <a:latin typeface="Calibri" pitchFamily="34" charset="0"/>
                <a:ea typeface="Calibri" pitchFamily="34" charset="-122"/>
                <a:cs typeface="Calibri" pitchFamily="34" charset="-120"/>
              </a:rPr>
              <a:t>Understanding our university, our course, and how you'll be evaluated this semester.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Mandate</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108813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1024128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Our Mandate</a:t>
            </a:r>
            <a:endParaRPr lang="en-US" sz="2000" dirty="0"/>
          </a:p>
        </p:txBody>
      </p:sp>
      <p:sp>
        <p:nvSpPr>
          <p:cNvPr id="8" name="Text 6"/>
          <p:cNvSpPr/>
          <p:nvPr/>
        </p:nvSpPr>
        <p:spPr>
          <a:xfrm>
            <a:off x="914400" y="2651760"/>
            <a:ext cx="10241280" cy="3520440"/>
          </a:xfrm>
          <a:prstGeom prst="rect">
            <a:avLst/>
          </a:prstGeom>
          <a:noFill/>
          <a:ln/>
        </p:spPr>
        <p:txBody>
          <a:bodyPr wrap="square" rtlCol="0" anchor="t"/>
          <a:lstStyle/>
          <a:p>
            <a:pPr marL="0" indent="0">
              <a:lnSpc>
                <a:spcPct val="118000"/>
              </a:lnSpc>
              <a:buNone/>
            </a:pPr>
            <a:r>
              <a:rPr lang="en-US" dirty="0">
                <a:solidFill>
                  <a:srgbClr val="1B2733"/>
                </a:solidFill>
                <a:latin typeface="Calibri" pitchFamily="34" charset="0"/>
                <a:ea typeface="Calibri" pitchFamily="34" charset="-122"/>
                <a:cs typeface="Calibri" pitchFamily="34" charset="-120"/>
              </a:rPr>
              <a:t>To provide advanced education, higher technological, professional instruction and training in fisheries technology, arts and sciences, education, industrial technology, engineering, aquaculture, seaweed farming, and related fields relevant to national development. The university also undertakes research, extension services, and production activities supporting the development of Iloilo Province.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Vision &amp; Mission</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464058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Vision</a:t>
            </a:r>
            <a:endParaRPr lang="en-US" sz="2000" dirty="0"/>
          </a:p>
        </p:txBody>
      </p:sp>
      <p:sp>
        <p:nvSpPr>
          <p:cNvPr id="8" name="Text 6"/>
          <p:cNvSpPr/>
          <p:nvPr/>
        </p:nvSpPr>
        <p:spPr>
          <a:xfrm>
            <a:off x="914400" y="2651760"/>
            <a:ext cx="4640580" cy="3520440"/>
          </a:xfrm>
          <a:prstGeom prst="rect">
            <a:avLst/>
          </a:prstGeom>
          <a:noFill/>
          <a:ln/>
        </p:spPr>
        <p:txBody>
          <a:bodyPr wrap="square" rtlCol="0" anchor="t"/>
          <a:lstStyle/>
          <a:p>
            <a:pPr marL="0" indent="0">
              <a:lnSpc>
                <a:spcPct val="118000"/>
              </a:lnSpc>
              <a:buNone/>
            </a:pPr>
            <a:r>
              <a:rPr lang="en-US" dirty="0">
                <a:solidFill>
                  <a:srgbClr val="1B2733"/>
                </a:solidFill>
                <a:latin typeface="Calibri" pitchFamily="34" charset="0"/>
                <a:ea typeface="Calibri" pitchFamily="34" charset="-122"/>
                <a:cs typeface="Calibri" pitchFamily="34" charset="-120"/>
              </a:rPr>
              <a:t>A leading and empowering research university in fisheries, agriculture, education, maritime studies, arts, sciences, and technology in Southeast Asia by 2030.</a:t>
            </a:r>
            <a:endParaRPr lang="en-US" dirty="0"/>
          </a:p>
          <a:p>
            <a:pPr marL="0" indent="0">
              <a:lnSpc>
                <a:spcPct val="118000"/>
              </a:lnSpc>
              <a:buNone/>
            </a:pPr>
            <a:r>
              <a:rPr lang="en-US" dirty="0">
                <a:solidFill>
                  <a:srgbClr val="1B2733"/>
                </a:solidFill>
                <a:latin typeface="Calibri" pitchFamily="34" charset="0"/>
                <a:ea typeface="Calibri" pitchFamily="34" charset="-122"/>
                <a:cs typeface="Calibri" pitchFamily="34" charset="-120"/>
              </a:rPr>
              <a:t>(BOR Reso. No. 209, s. 2025)</a:t>
            </a:r>
            <a:endParaRPr lang="en-US" dirty="0"/>
          </a:p>
        </p:txBody>
      </p:sp>
      <p:sp>
        <p:nvSpPr>
          <p:cNvPr id="9" name="Shape 7"/>
          <p:cNvSpPr/>
          <p:nvPr/>
        </p:nvSpPr>
        <p:spPr>
          <a:xfrm>
            <a:off x="61950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6515100" y="2011680"/>
            <a:ext cx="384048" cy="54864"/>
          </a:xfrm>
          <a:prstGeom prst="rect">
            <a:avLst/>
          </a:prstGeom>
          <a:solidFill>
            <a:srgbClr val="2FD4C4"/>
          </a:solidFill>
          <a:ln/>
        </p:spPr>
        <p:txBody>
          <a:bodyPr/>
          <a:lstStyle/>
          <a:p>
            <a:endParaRPr lang="en-PH"/>
          </a:p>
        </p:txBody>
      </p:sp>
      <p:sp>
        <p:nvSpPr>
          <p:cNvPr id="11" name="Text 9"/>
          <p:cNvSpPr/>
          <p:nvPr/>
        </p:nvSpPr>
        <p:spPr>
          <a:xfrm>
            <a:off x="6515100" y="2148840"/>
            <a:ext cx="464058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Mission</a:t>
            </a:r>
            <a:endParaRPr lang="en-US" sz="2000" dirty="0"/>
          </a:p>
        </p:txBody>
      </p:sp>
      <p:sp>
        <p:nvSpPr>
          <p:cNvPr id="12" name="Text 10"/>
          <p:cNvSpPr/>
          <p:nvPr/>
        </p:nvSpPr>
        <p:spPr>
          <a:xfrm>
            <a:off x="6515100" y="2651760"/>
            <a:ext cx="4640580" cy="3520440"/>
          </a:xfrm>
          <a:prstGeom prst="rect">
            <a:avLst/>
          </a:prstGeom>
          <a:noFill/>
          <a:ln/>
        </p:spPr>
        <p:txBody>
          <a:bodyPr wrap="square" rtlCol="0" anchor="t"/>
          <a:lstStyle/>
          <a:p>
            <a:pPr marL="0" indent="0">
              <a:lnSpc>
                <a:spcPct val="118000"/>
              </a:lnSpc>
              <a:buNone/>
            </a:pPr>
            <a:r>
              <a:rPr lang="en-US" dirty="0">
                <a:solidFill>
                  <a:srgbClr val="1B2733"/>
                </a:solidFill>
                <a:latin typeface="Calibri" pitchFamily="34" charset="0"/>
                <a:ea typeface="Calibri" pitchFamily="34" charset="-122"/>
                <a:cs typeface="Calibri" pitchFamily="34" charset="-120"/>
              </a:rPr>
              <a:t>To produce globally competitive and empowered graduates in fisheries, agriculture, education, maritime studies, arts, sciences, and technology, and to capacitate individuals and communities toward sufficiency for nation building.</a:t>
            </a:r>
            <a:endParaRPr lang="en-US" dirty="0"/>
          </a:p>
          <a:p>
            <a:pPr marL="0" indent="0">
              <a:lnSpc>
                <a:spcPct val="118000"/>
              </a:lnSpc>
              <a:buNone/>
            </a:pPr>
            <a:r>
              <a:rPr lang="en-US" dirty="0">
                <a:solidFill>
                  <a:srgbClr val="1B2733"/>
                </a:solidFill>
                <a:latin typeface="Calibri" pitchFamily="34" charset="0"/>
                <a:ea typeface="Calibri" pitchFamily="34" charset="-122"/>
                <a:cs typeface="Calibri" pitchFamily="34" charset="-120"/>
              </a:rPr>
              <a:t>(BOR Reso. No. 209, s. 2025)</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Guiding Principles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83080"/>
            <a:ext cx="2514600" cy="4480560"/>
          </a:xfrm>
          <a:prstGeom prst="roundRect">
            <a:avLst>
              <a:gd name="adj" fmla="val 3636"/>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1348740" y="2103120"/>
            <a:ext cx="1005840" cy="1005840"/>
          </a:xfrm>
          <a:prstGeom prst="roundRect">
            <a:avLst>
              <a:gd name="adj" fmla="val 50000"/>
            </a:avLst>
          </a:prstGeom>
          <a:solidFill>
            <a:srgbClr val="0F1B2D"/>
          </a:solidFill>
          <a:ln/>
        </p:spPr>
        <p:txBody>
          <a:bodyPr/>
          <a:lstStyle/>
          <a:p>
            <a:endParaRPr lang="en-PH"/>
          </a:p>
        </p:txBody>
      </p:sp>
      <p:sp>
        <p:nvSpPr>
          <p:cNvPr id="7" name="Text 5"/>
          <p:cNvSpPr/>
          <p:nvPr/>
        </p:nvSpPr>
        <p:spPr>
          <a:xfrm>
            <a:off x="1348740" y="210312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I</a:t>
            </a:r>
            <a:endParaRPr lang="en-US" sz="3400" dirty="0"/>
          </a:p>
        </p:txBody>
      </p:sp>
      <p:sp>
        <p:nvSpPr>
          <p:cNvPr id="8" name="Text 6"/>
          <p:cNvSpPr/>
          <p:nvPr/>
        </p:nvSpPr>
        <p:spPr>
          <a:xfrm>
            <a:off x="777240" y="3291840"/>
            <a:ext cx="2148840" cy="685800"/>
          </a:xfrm>
          <a:prstGeom prst="rect">
            <a:avLst/>
          </a:prstGeom>
          <a:noFill/>
          <a:ln/>
        </p:spPr>
        <p:txBody>
          <a:bodyPr wrap="square" rtlCol="0" anchor="ctr"/>
          <a:lstStyle/>
          <a:p>
            <a:pPr marL="0" indent="0" algn="ctr">
              <a:buNone/>
            </a:pPr>
            <a:r>
              <a:rPr lang="en-US" sz="1450" b="1" dirty="0">
                <a:solidFill>
                  <a:srgbClr val="0F1B2D"/>
                </a:solidFill>
                <a:latin typeface="Calibri" pitchFamily="34" charset="0"/>
                <a:ea typeface="Calibri" pitchFamily="34" charset="-122"/>
                <a:cs typeface="Calibri" pitchFamily="34" charset="-120"/>
              </a:rPr>
              <a:t>Integrity</a:t>
            </a:r>
            <a:endParaRPr lang="en-US" sz="1450" dirty="0"/>
          </a:p>
        </p:txBody>
      </p:sp>
      <p:sp>
        <p:nvSpPr>
          <p:cNvPr id="10" name="Shape 8"/>
          <p:cNvSpPr/>
          <p:nvPr/>
        </p:nvSpPr>
        <p:spPr>
          <a:xfrm>
            <a:off x="3383280" y="1783080"/>
            <a:ext cx="2514600" cy="4480560"/>
          </a:xfrm>
          <a:prstGeom prst="roundRect">
            <a:avLst>
              <a:gd name="adj" fmla="val 3636"/>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1" name="Shape 9"/>
          <p:cNvSpPr/>
          <p:nvPr/>
        </p:nvSpPr>
        <p:spPr>
          <a:xfrm>
            <a:off x="4137660" y="2103120"/>
            <a:ext cx="1005840" cy="1005840"/>
          </a:xfrm>
          <a:prstGeom prst="roundRect">
            <a:avLst>
              <a:gd name="adj" fmla="val 50000"/>
            </a:avLst>
          </a:prstGeom>
          <a:solidFill>
            <a:srgbClr val="16324F"/>
          </a:solidFill>
          <a:ln/>
        </p:spPr>
        <p:txBody>
          <a:bodyPr/>
          <a:lstStyle/>
          <a:p>
            <a:endParaRPr lang="en-PH"/>
          </a:p>
        </p:txBody>
      </p:sp>
      <p:sp>
        <p:nvSpPr>
          <p:cNvPr id="12" name="Text 10"/>
          <p:cNvSpPr/>
          <p:nvPr/>
        </p:nvSpPr>
        <p:spPr>
          <a:xfrm>
            <a:off x="4137660" y="210312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S</a:t>
            </a:r>
            <a:endParaRPr lang="en-US" sz="3400" dirty="0"/>
          </a:p>
        </p:txBody>
      </p:sp>
      <p:sp>
        <p:nvSpPr>
          <p:cNvPr id="13" name="Text 11"/>
          <p:cNvSpPr/>
          <p:nvPr/>
        </p:nvSpPr>
        <p:spPr>
          <a:xfrm>
            <a:off x="3566160" y="3291840"/>
            <a:ext cx="2148840" cy="685800"/>
          </a:xfrm>
          <a:prstGeom prst="rect">
            <a:avLst/>
          </a:prstGeom>
          <a:noFill/>
          <a:ln/>
        </p:spPr>
        <p:txBody>
          <a:bodyPr wrap="square" rtlCol="0" anchor="ctr"/>
          <a:lstStyle/>
          <a:p>
            <a:pPr marL="0" indent="0" algn="ctr">
              <a:buNone/>
            </a:pPr>
            <a:r>
              <a:rPr lang="en-US" sz="1450" b="1" dirty="0">
                <a:solidFill>
                  <a:srgbClr val="0F1B2D"/>
                </a:solidFill>
                <a:latin typeface="Calibri" pitchFamily="34" charset="0"/>
                <a:ea typeface="Calibri" pitchFamily="34" charset="-122"/>
                <a:cs typeface="Calibri" pitchFamily="34" charset="-120"/>
              </a:rPr>
              <a:t>Social Justice</a:t>
            </a:r>
            <a:endParaRPr lang="en-US" sz="1450" dirty="0"/>
          </a:p>
        </p:txBody>
      </p:sp>
      <p:sp>
        <p:nvSpPr>
          <p:cNvPr id="15" name="Shape 13"/>
          <p:cNvSpPr/>
          <p:nvPr/>
        </p:nvSpPr>
        <p:spPr>
          <a:xfrm>
            <a:off x="6172200" y="1783080"/>
            <a:ext cx="2514600" cy="4480560"/>
          </a:xfrm>
          <a:prstGeom prst="roundRect">
            <a:avLst>
              <a:gd name="adj" fmla="val 3636"/>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6" name="Shape 14"/>
          <p:cNvSpPr/>
          <p:nvPr/>
        </p:nvSpPr>
        <p:spPr>
          <a:xfrm>
            <a:off x="6926580" y="2103120"/>
            <a:ext cx="1005840" cy="1005840"/>
          </a:xfrm>
          <a:prstGeom prst="roundRect">
            <a:avLst>
              <a:gd name="adj" fmla="val 50000"/>
            </a:avLst>
          </a:prstGeom>
          <a:solidFill>
            <a:srgbClr val="E8674F"/>
          </a:solidFill>
          <a:ln/>
        </p:spPr>
        <p:txBody>
          <a:bodyPr/>
          <a:lstStyle/>
          <a:p>
            <a:endParaRPr lang="en-PH"/>
          </a:p>
        </p:txBody>
      </p:sp>
      <p:sp>
        <p:nvSpPr>
          <p:cNvPr id="17" name="Text 15"/>
          <p:cNvSpPr/>
          <p:nvPr/>
        </p:nvSpPr>
        <p:spPr>
          <a:xfrm>
            <a:off x="6926580" y="210312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D</a:t>
            </a:r>
            <a:endParaRPr lang="en-US" sz="3400" dirty="0"/>
          </a:p>
        </p:txBody>
      </p:sp>
      <p:sp>
        <p:nvSpPr>
          <p:cNvPr id="18" name="Text 16"/>
          <p:cNvSpPr/>
          <p:nvPr/>
        </p:nvSpPr>
        <p:spPr>
          <a:xfrm>
            <a:off x="6355080" y="3291840"/>
            <a:ext cx="2148840" cy="685800"/>
          </a:xfrm>
          <a:prstGeom prst="rect">
            <a:avLst/>
          </a:prstGeom>
          <a:noFill/>
          <a:ln/>
        </p:spPr>
        <p:txBody>
          <a:bodyPr wrap="square" rtlCol="0" anchor="ctr"/>
          <a:lstStyle/>
          <a:p>
            <a:pPr marL="0" indent="0" algn="ctr">
              <a:buNone/>
            </a:pPr>
            <a:r>
              <a:rPr lang="en-US" sz="1450" b="1" dirty="0">
                <a:solidFill>
                  <a:srgbClr val="0F1B2D"/>
                </a:solidFill>
                <a:latin typeface="Calibri" pitchFamily="34" charset="0"/>
                <a:ea typeface="Calibri" pitchFamily="34" charset="-122"/>
                <a:cs typeface="Calibri" pitchFamily="34" charset="-120"/>
              </a:rPr>
              <a:t>Discipline</a:t>
            </a:r>
            <a:endParaRPr lang="en-US" sz="1450" dirty="0"/>
          </a:p>
        </p:txBody>
      </p:sp>
      <p:sp>
        <p:nvSpPr>
          <p:cNvPr id="20" name="Shape 18"/>
          <p:cNvSpPr/>
          <p:nvPr/>
        </p:nvSpPr>
        <p:spPr>
          <a:xfrm>
            <a:off x="8961120" y="1783080"/>
            <a:ext cx="2514600" cy="4480560"/>
          </a:xfrm>
          <a:prstGeom prst="roundRect">
            <a:avLst>
              <a:gd name="adj" fmla="val 3636"/>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1" name="Shape 19"/>
          <p:cNvSpPr/>
          <p:nvPr/>
        </p:nvSpPr>
        <p:spPr>
          <a:xfrm>
            <a:off x="9715500" y="2103120"/>
            <a:ext cx="1005840" cy="1005840"/>
          </a:xfrm>
          <a:prstGeom prst="roundRect">
            <a:avLst>
              <a:gd name="adj" fmla="val 50000"/>
            </a:avLst>
          </a:prstGeom>
          <a:solidFill>
            <a:srgbClr val="F2A93B"/>
          </a:solidFill>
          <a:ln/>
        </p:spPr>
        <p:txBody>
          <a:bodyPr/>
          <a:lstStyle/>
          <a:p>
            <a:endParaRPr lang="en-PH"/>
          </a:p>
        </p:txBody>
      </p:sp>
      <p:sp>
        <p:nvSpPr>
          <p:cNvPr id="22" name="Text 20"/>
          <p:cNvSpPr/>
          <p:nvPr/>
        </p:nvSpPr>
        <p:spPr>
          <a:xfrm>
            <a:off x="9715500" y="2103120"/>
            <a:ext cx="100584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a:t>
            </a:r>
            <a:endParaRPr lang="en-US" sz="3400" dirty="0"/>
          </a:p>
        </p:txBody>
      </p:sp>
      <p:sp>
        <p:nvSpPr>
          <p:cNvPr id="23" name="Text 21"/>
          <p:cNvSpPr/>
          <p:nvPr/>
        </p:nvSpPr>
        <p:spPr>
          <a:xfrm>
            <a:off x="9144000" y="3291840"/>
            <a:ext cx="2148840" cy="685800"/>
          </a:xfrm>
          <a:prstGeom prst="rect">
            <a:avLst/>
          </a:prstGeom>
          <a:noFill/>
          <a:ln/>
        </p:spPr>
        <p:txBody>
          <a:bodyPr wrap="square" rtlCol="0" anchor="ctr"/>
          <a:lstStyle/>
          <a:p>
            <a:pPr marL="0" indent="0" algn="ctr">
              <a:buNone/>
            </a:pPr>
            <a:r>
              <a:rPr lang="en-US" sz="1450" b="1" dirty="0">
                <a:solidFill>
                  <a:srgbClr val="0F1B2D"/>
                </a:solidFill>
                <a:latin typeface="Calibri" pitchFamily="34" charset="0"/>
                <a:ea typeface="Calibri" pitchFamily="34" charset="-122"/>
                <a:cs typeface="Calibri" pitchFamily="34" charset="-120"/>
              </a:rPr>
              <a:t>Academic Excellence</a:t>
            </a:r>
            <a:endParaRPr lang="en-US"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3" grpId="0" animBg="1"/>
      <p:bldP spid="15" grpId="0" animBg="1"/>
      <p:bldP spid="16" grpId="0" animBg="1"/>
      <p:bldP spid="18" grpId="0" animBg="1"/>
      <p:bldP spid="20"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Quality Policy Statement</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108813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1024128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Our Commitment</a:t>
            </a:r>
            <a:endParaRPr lang="en-US" sz="2000" dirty="0"/>
          </a:p>
        </p:txBody>
      </p:sp>
      <p:sp>
        <p:nvSpPr>
          <p:cNvPr id="8" name="Text 6"/>
          <p:cNvSpPr/>
          <p:nvPr/>
        </p:nvSpPr>
        <p:spPr>
          <a:xfrm>
            <a:off x="914400" y="2651760"/>
            <a:ext cx="10241280" cy="3520440"/>
          </a:xfrm>
          <a:prstGeom prst="rect">
            <a:avLst/>
          </a:prstGeom>
          <a:noFill/>
          <a:ln/>
        </p:spPr>
        <p:txBody>
          <a:bodyPr wrap="square" rtlCol="0" anchor="t"/>
          <a:lstStyle/>
          <a:p>
            <a:pPr marL="0" indent="0">
              <a:lnSpc>
                <a:spcPct val="118000"/>
              </a:lnSpc>
              <a:buNone/>
            </a:pPr>
            <a:r>
              <a:rPr lang="en-US" dirty="0">
                <a:solidFill>
                  <a:srgbClr val="1B2733"/>
                </a:solidFill>
                <a:latin typeface="Calibri" pitchFamily="34" charset="0"/>
                <a:ea typeface="Calibri" pitchFamily="34" charset="-122"/>
                <a:cs typeface="Calibri" pitchFamily="34" charset="-120"/>
              </a:rPr>
              <a:t>The ISUFST is committed to providing advanced education and professional training relevant to regional and national development, satisfying applicable statutory and regulatory requirements. The university undertakes research, extension, and production services supporting the Province of Iloilo and the country, providing progressive leadership in its areas of specialization. Management ensures continuous improvement and customer satisfaction through compliance with its quality management system.</a:t>
            </a:r>
            <a:endParaRPr lang="en-US" dirty="0"/>
          </a:p>
          <a:p>
            <a:pPr marL="0" indent="0">
              <a:lnSpc>
                <a:spcPct val="118000"/>
              </a:lnSpc>
              <a:buNone/>
            </a:pPr>
            <a:r>
              <a:rPr lang="en-US" dirty="0">
                <a:solidFill>
                  <a:srgbClr val="1B2733"/>
                </a:solidFill>
                <a:latin typeface="Calibri" pitchFamily="34" charset="0"/>
                <a:ea typeface="Calibri" pitchFamily="34" charset="-122"/>
                <a:cs typeface="Calibri" pitchFamily="34" charset="-120"/>
              </a:rPr>
              <a:t>(BOR Res. No. 97, s. 2018)</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Institutional Objectives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758952" y="1709275"/>
            <a:ext cx="402336" cy="402336"/>
          </a:xfrm>
          <a:prstGeom prst="ellipse">
            <a:avLst/>
          </a:prstGeom>
          <a:solidFill>
            <a:srgbClr val="0F1B2D"/>
          </a:solidFill>
          <a:ln/>
        </p:spPr>
        <p:txBody>
          <a:bodyPr/>
          <a:lstStyle/>
          <a:p>
            <a:endParaRPr lang="en-PH"/>
          </a:p>
        </p:txBody>
      </p:sp>
      <p:sp>
        <p:nvSpPr>
          <p:cNvPr id="7" name="Text 5"/>
          <p:cNvSpPr/>
          <p:nvPr/>
        </p:nvSpPr>
        <p:spPr>
          <a:xfrm>
            <a:off x="758952" y="1709275"/>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80160" y="1746504"/>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Produce quality graduates who contribute to the advancement of their chosen field.</a:t>
            </a:r>
            <a:endParaRPr lang="en-US" sz="1400" dirty="0"/>
          </a:p>
        </p:txBody>
      </p:sp>
      <p:sp>
        <p:nvSpPr>
          <p:cNvPr id="9" name="Shape 7"/>
          <p:cNvSpPr/>
          <p:nvPr/>
        </p:nvSpPr>
        <p:spPr>
          <a:xfrm>
            <a:off x="594360" y="2403566"/>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758952" y="2421201"/>
            <a:ext cx="402336" cy="402336"/>
          </a:xfrm>
          <a:prstGeom prst="ellipse">
            <a:avLst/>
          </a:prstGeom>
          <a:solidFill>
            <a:srgbClr val="0F1B2D"/>
          </a:solidFill>
          <a:ln/>
        </p:spPr>
        <p:txBody>
          <a:bodyPr/>
          <a:lstStyle/>
          <a:p>
            <a:endParaRPr lang="en-PH"/>
          </a:p>
        </p:txBody>
      </p:sp>
      <p:sp>
        <p:nvSpPr>
          <p:cNvPr id="11" name="Text 9"/>
          <p:cNvSpPr/>
          <p:nvPr/>
        </p:nvSpPr>
        <p:spPr>
          <a:xfrm>
            <a:off x="758952" y="2421201"/>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458430"/>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Conduct viable research, develop and disseminate technologies, and provide technical assistance for increased production.</a:t>
            </a:r>
            <a:endParaRPr lang="en-US" sz="1400" dirty="0"/>
          </a:p>
        </p:txBody>
      </p:sp>
      <p:sp>
        <p:nvSpPr>
          <p:cNvPr id="13" name="Shape 11"/>
          <p:cNvSpPr/>
          <p:nvPr/>
        </p:nvSpPr>
        <p:spPr>
          <a:xfrm>
            <a:off x="594360" y="3115491"/>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4" name="Shape 12"/>
          <p:cNvSpPr/>
          <p:nvPr/>
        </p:nvSpPr>
        <p:spPr>
          <a:xfrm>
            <a:off x="758952" y="3133126"/>
            <a:ext cx="402336" cy="402336"/>
          </a:xfrm>
          <a:prstGeom prst="ellipse">
            <a:avLst/>
          </a:prstGeom>
          <a:solidFill>
            <a:srgbClr val="0F1B2D"/>
          </a:solidFill>
          <a:ln/>
        </p:spPr>
        <p:txBody>
          <a:bodyPr/>
          <a:lstStyle/>
          <a:p>
            <a:endParaRPr lang="en-PH"/>
          </a:p>
        </p:txBody>
      </p:sp>
      <p:sp>
        <p:nvSpPr>
          <p:cNvPr id="15" name="Text 13"/>
          <p:cNvSpPr/>
          <p:nvPr/>
        </p:nvSpPr>
        <p:spPr>
          <a:xfrm>
            <a:off x="758952" y="3133126"/>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280160" y="3170355"/>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Offer curricular programs responsive to community and industry needs.</a:t>
            </a:r>
            <a:endParaRPr lang="en-US" sz="1400" dirty="0"/>
          </a:p>
        </p:txBody>
      </p:sp>
      <p:sp>
        <p:nvSpPr>
          <p:cNvPr id="17" name="Shape 15"/>
          <p:cNvSpPr/>
          <p:nvPr/>
        </p:nvSpPr>
        <p:spPr>
          <a:xfrm>
            <a:off x="594360" y="3827417"/>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8" name="Shape 16"/>
          <p:cNvSpPr/>
          <p:nvPr/>
        </p:nvSpPr>
        <p:spPr>
          <a:xfrm>
            <a:off x="758952" y="3845052"/>
            <a:ext cx="402336" cy="402336"/>
          </a:xfrm>
          <a:prstGeom prst="ellipse">
            <a:avLst/>
          </a:prstGeom>
          <a:solidFill>
            <a:srgbClr val="0F1B2D"/>
          </a:solidFill>
          <a:ln/>
        </p:spPr>
        <p:txBody>
          <a:bodyPr/>
          <a:lstStyle/>
          <a:p>
            <a:endParaRPr lang="en-PH"/>
          </a:p>
        </p:txBody>
      </p:sp>
      <p:sp>
        <p:nvSpPr>
          <p:cNvPr id="19" name="Text 17"/>
          <p:cNvSpPr/>
          <p:nvPr/>
        </p:nvSpPr>
        <p:spPr>
          <a:xfrm>
            <a:off x="758952" y="384505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280160" y="3882281"/>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Promote self-employment and entrepreneurship.</a:t>
            </a:r>
            <a:endParaRPr lang="en-US" sz="1400" dirty="0"/>
          </a:p>
        </p:txBody>
      </p:sp>
      <p:sp>
        <p:nvSpPr>
          <p:cNvPr id="21" name="Shape 19"/>
          <p:cNvSpPr/>
          <p:nvPr/>
        </p:nvSpPr>
        <p:spPr>
          <a:xfrm>
            <a:off x="594360" y="4539343"/>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2" name="Shape 20"/>
          <p:cNvSpPr/>
          <p:nvPr/>
        </p:nvSpPr>
        <p:spPr>
          <a:xfrm>
            <a:off x="758952" y="4556978"/>
            <a:ext cx="402336" cy="402336"/>
          </a:xfrm>
          <a:prstGeom prst="ellipse">
            <a:avLst/>
          </a:prstGeom>
          <a:solidFill>
            <a:srgbClr val="0F1B2D"/>
          </a:solidFill>
          <a:ln/>
        </p:spPr>
        <p:txBody>
          <a:bodyPr/>
          <a:lstStyle/>
          <a:p>
            <a:endParaRPr lang="en-PH"/>
          </a:p>
        </p:txBody>
      </p:sp>
      <p:sp>
        <p:nvSpPr>
          <p:cNvPr id="23" name="Text 21"/>
          <p:cNvSpPr/>
          <p:nvPr/>
        </p:nvSpPr>
        <p:spPr>
          <a:xfrm>
            <a:off x="758952" y="4556978"/>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280160" y="4594207"/>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Strengthen scholarships and training opportunities for students, faculty, and staff.</a:t>
            </a:r>
            <a:endParaRPr lang="en-US" sz="1400" dirty="0"/>
          </a:p>
        </p:txBody>
      </p:sp>
      <p:sp>
        <p:nvSpPr>
          <p:cNvPr id="25" name="Shape 23"/>
          <p:cNvSpPr/>
          <p:nvPr/>
        </p:nvSpPr>
        <p:spPr>
          <a:xfrm>
            <a:off x="594360" y="5251269"/>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6" name="Shape 24"/>
          <p:cNvSpPr/>
          <p:nvPr/>
        </p:nvSpPr>
        <p:spPr>
          <a:xfrm>
            <a:off x="758952" y="5268903"/>
            <a:ext cx="402336" cy="402336"/>
          </a:xfrm>
          <a:prstGeom prst="ellipse">
            <a:avLst/>
          </a:prstGeom>
          <a:solidFill>
            <a:srgbClr val="0F1B2D"/>
          </a:solidFill>
          <a:ln/>
        </p:spPr>
        <p:txBody>
          <a:bodyPr/>
          <a:lstStyle/>
          <a:p>
            <a:endParaRPr lang="en-PH"/>
          </a:p>
        </p:txBody>
      </p:sp>
      <p:sp>
        <p:nvSpPr>
          <p:cNvPr id="27" name="Text 25"/>
          <p:cNvSpPr/>
          <p:nvPr/>
        </p:nvSpPr>
        <p:spPr>
          <a:xfrm>
            <a:off x="758952" y="5268903"/>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280160" y="5306133"/>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Develop linkages with agencies and institutions, nationally and internationally.</a:t>
            </a:r>
            <a:endParaRPr lang="en-US" sz="1400" dirty="0"/>
          </a:p>
        </p:txBody>
      </p:sp>
      <p:sp>
        <p:nvSpPr>
          <p:cNvPr id="29" name="Shape 27"/>
          <p:cNvSpPr/>
          <p:nvPr/>
        </p:nvSpPr>
        <p:spPr>
          <a:xfrm>
            <a:off x="594360" y="5963194"/>
            <a:ext cx="10881360" cy="437606"/>
          </a:xfrm>
          <a:prstGeom prst="roundRect">
            <a:avLst>
              <a:gd name="adj" fmla="val 1671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30" name="Shape 28"/>
          <p:cNvSpPr/>
          <p:nvPr/>
        </p:nvSpPr>
        <p:spPr>
          <a:xfrm>
            <a:off x="758952" y="5980829"/>
            <a:ext cx="402336" cy="402336"/>
          </a:xfrm>
          <a:prstGeom prst="ellipse">
            <a:avLst/>
          </a:prstGeom>
          <a:solidFill>
            <a:srgbClr val="0F1B2D"/>
          </a:solidFill>
          <a:ln/>
        </p:spPr>
        <p:txBody>
          <a:bodyPr/>
          <a:lstStyle/>
          <a:p>
            <a:endParaRPr lang="en-PH"/>
          </a:p>
        </p:txBody>
      </p:sp>
      <p:sp>
        <p:nvSpPr>
          <p:cNvPr id="31" name="Text 29"/>
          <p:cNvSpPr/>
          <p:nvPr/>
        </p:nvSpPr>
        <p:spPr>
          <a:xfrm>
            <a:off x="758952" y="5980829"/>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1280160" y="6018058"/>
            <a:ext cx="10012680" cy="327878"/>
          </a:xfrm>
          <a:prstGeom prst="rect">
            <a:avLst/>
          </a:prstGeom>
          <a:noFill/>
          <a:ln/>
        </p:spPr>
        <p:txBody>
          <a:bodyPr wrap="square" rtlCol="0" anchor="ctr"/>
          <a:lstStyle/>
          <a:p>
            <a:pPr marL="0" indent="0">
              <a:lnSpc>
                <a:spcPct val="105000"/>
              </a:lnSpc>
              <a:buNone/>
            </a:pPr>
            <a:r>
              <a:rPr lang="en-US" sz="1400" dirty="0">
                <a:solidFill>
                  <a:srgbClr val="1B2733"/>
                </a:solidFill>
                <a:latin typeface="Calibri" pitchFamily="34" charset="0"/>
                <a:ea typeface="Calibri" pitchFamily="34" charset="-122"/>
                <a:cs typeface="Calibri" pitchFamily="34" charset="-120"/>
              </a:rPr>
              <a:t>Improve facilities that support quality instruction, research, extension, and production.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50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Program Outcomes — BSIT (1 of 2)</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Apply knowledge of computing, science, and mathematics appropriate to the discipline.</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Understand best practices and standards and their applications.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Analyze complex problems and identify computing requirements for their solution.</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Identify and analyze user needs for the design of computer-based systems.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Design, implement, and evaluate computer-based systems and processes.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Integrate IT-based solutions effectively into the user environment.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Program Outcomes — BSIT (2 of 2)</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Apply current techniques, skills, tools, and practices necessary for the IT profession.</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Function effectively as a member or leader of a development team.</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Assist in creating an effective IT project plan.</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Communicate effectively with the computing community and society at large.</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Analyze the local and global impact of computing on individuals and society.</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Understand professional, ethical, legal, and security responsibilities in IT.</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Engage in self-learning as a foundation for continuing professional development.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Course Outcomes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10881360" cy="722376"/>
          </a:xfrm>
          <a:prstGeom prst="roundRect">
            <a:avLst>
              <a:gd name="adj" fmla="val 10127"/>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758952" y="1851660"/>
            <a:ext cx="402336" cy="402336"/>
          </a:xfrm>
          <a:prstGeom prst="ellipse">
            <a:avLst/>
          </a:prstGeom>
          <a:solidFill>
            <a:srgbClr val="0F1B2D"/>
          </a:solidFill>
          <a:ln/>
        </p:spPr>
        <p:txBody>
          <a:bodyPr/>
          <a:lstStyle/>
          <a:p>
            <a:endParaRPr lang="en-PH"/>
          </a:p>
        </p:txBody>
      </p:sp>
      <p:sp>
        <p:nvSpPr>
          <p:cNvPr id="7" name="Text 5"/>
          <p:cNvSpPr/>
          <p:nvPr/>
        </p:nvSpPr>
        <p:spPr>
          <a:xfrm>
            <a:off x="758952" y="1851660"/>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80160" y="1746504"/>
            <a:ext cx="10012680" cy="612648"/>
          </a:xfrm>
          <a:prstGeom prst="rect">
            <a:avLst/>
          </a:prstGeom>
          <a:noFill/>
          <a:ln/>
        </p:spPr>
        <p:txBody>
          <a:bodyPr wrap="square" rtlCol="0" anchor="ctr"/>
          <a:lstStyle/>
          <a:p>
            <a:pPr marL="0" indent="0">
              <a:lnSpc>
                <a:spcPct val="105000"/>
              </a:lnSpc>
              <a:buNone/>
            </a:pPr>
            <a:r>
              <a:rPr lang="en-US" sz="1600" dirty="0">
                <a:solidFill>
                  <a:srgbClr val="1B2733"/>
                </a:solidFill>
                <a:latin typeface="Calibri" pitchFamily="34" charset="0"/>
                <a:ea typeface="Calibri" pitchFamily="34" charset="-122"/>
                <a:cs typeface="Calibri" pitchFamily="34" charset="-120"/>
              </a:rPr>
              <a:t>Explain the fundamental concepts, components, functions, and importance of databases and DBMS.</a:t>
            </a:r>
            <a:endParaRPr lang="en-US" sz="1600" dirty="0"/>
          </a:p>
        </p:txBody>
      </p:sp>
      <p:sp>
        <p:nvSpPr>
          <p:cNvPr id="9" name="Shape 7"/>
          <p:cNvSpPr/>
          <p:nvPr/>
        </p:nvSpPr>
        <p:spPr>
          <a:xfrm>
            <a:off x="594360" y="2688336"/>
            <a:ext cx="10881360" cy="722376"/>
          </a:xfrm>
          <a:prstGeom prst="roundRect">
            <a:avLst>
              <a:gd name="adj" fmla="val 10127"/>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758952" y="2848356"/>
            <a:ext cx="402336" cy="402336"/>
          </a:xfrm>
          <a:prstGeom prst="ellipse">
            <a:avLst/>
          </a:prstGeom>
          <a:solidFill>
            <a:srgbClr val="0F1B2D"/>
          </a:solidFill>
          <a:ln/>
        </p:spPr>
        <p:txBody>
          <a:bodyPr/>
          <a:lstStyle/>
          <a:p>
            <a:endParaRPr lang="en-PH"/>
          </a:p>
        </p:txBody>
      </p:sp>
      <p:sp>
        <p:nvSpPr>
          <p:cNvPr id="11" name="Text 9"/>
          <p:cNvSpPr/>
          <p:nvPr/>
        </p:nvSpPr>
        <p:spPr>
          <a:xfrm>
            <a:off x="758952" y="2848356"/>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743200"/>
            <a:ext cx="10012680" cy="612648"/>
          </a:xfrm>
          <a:prstGeom prst="rect">
            <a:avLst/>
          </a:prstGeom>
          <a:noFill/>
          <a:ln/>
        </p:spPr>
        <p:txBody>
          <a:bodyPr wrap="square" rtlCol="0" anchor="ctr"/>
          <a:lstStyle/>
          <a:p>
            <a:pPr marL="0" indent="0">
              <a:lnSpc>
                <a:spcPct val="105000"/>
              </a:lnSpc>
              <a:buNone/>
            </a:pPr>
            <a:r>
              <a:rPr lang="en-US" sz="1600" dirty="0">
                <a:solidFill>
                  <a:srgbClr val="1B2733"/>
                </a:solidFill>
                <a:latin typeface="Calibri" pitchFamily="34" charset="0"/>
                <a:ea typeface="Calibri" pitchFamily="34" charset="-122"/>
                <a:cs typeface="Calibri" pitchFamily="34" charset="-120"/>
              </a:rPr>
              <a:t>Analyze data requirements and design relational database models using ERDs.</a:t>
            </a:r>
            <a:endParaRPr lang="en-US" sz="1600" dirty="0"/>
          </a:p>
        </p:txBody>
      </p:sp>
      <p:sp>
        <p:nvSpPr>
          <p:cNvPr id="13" name="Shape 11"/>
          <p:cNvSpPr/>
          <p:nvPr/>
        </p:nvSpPr>
        <p:spPr>
          <a:xfrm>
            <a:off x="594360" y="3685032"/>
            <a:ext cx="10881360" cy="722376"/>
          </a:xfrm>
          <a:prstGeom prst="roundRect">
            <a:avLst>
              <a:gd name="adj" fmla="val 10127"/>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4" name="Shape 12"/>
          <p:cNvSpPr/>
          <p:nvPr/>
        </p:nvSpPr>
        <p:spPr>
          <a:xfrm>
            <a:off x="758952" y="3845052"/>
            <a:ext cx="402336" cy="402336"/>
          </a:xfrm>
          <a:prstGeom prst="ellipse">
            <a:avLst/>
          </a:prstGeom>
          <a:solidFill>
            <a:srgbClr val="0F1B2D"/>
          </a:solidFill>
          <a:ln/>
        </p:spPr>
        <p:txBody>
          <a:bodyPr/>
          <a:lstStyle/>
          <a:p>
            <a:endParaRPr lang="en-PH"/>
          </a:p>
        </p:txBody>
      </p:sp>
      <p:sp>
        <p:nvSpPr>
          <p:cNvPr id="15" name="Text 13"/>
          <p:cNvSpPr/>
          <p:nvPr/>
        </p:nvSpPr>
        <p:spPr>
          <a:xfrm>
            <a:off x="758952" y="384505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280160" y="3739896"/>
            <a:ext cx="10012680" cy="612648"/>
          </a:xfrm>
          <a:prstGeom prst="rect">
            <a:avLst/>
          </a:prstGeom>
          <a:noFill/>
          <a:ln/>
        </p:spPr>
        <p:txBody>
          <a:bodyPr wrap="square" rtlCol="0" anchor="ctr"/>
          <a:lstStyle/>
          <a:p>
            <a:pPr marL="0" indent="0">
              <a:lnSpc>
                <a:spcPct val="105000"/>
              </a:lnSpc>
              <a:buNone/>
            </a:pPr>
            <a:r>
              <a:rPr lang="en-US" sz="1600" dirty="0">
                <a:solidFill>
                  <a:srgbClr val="1B2733"/>
                </a:solidFill>
                <a:latin typeface="Calibri" pitchFamily="34" charset="0"/>
                <a:ea typeface="Calibri" pitchFamily="34" charset="-122"/>
                <a:cs typeface="Calibri" pitchFamily="34" charset="-120"/>
              </a:rPr>
              <a:t>Apply normalization techniques to organize data and improve database integrity.</a:t>
            </a:r>
            <a:endParaRPr lang="en-US" sz="1600" dirty="0"/>
          </a:p>
        </p:txBody>
      </p:sp>
      <p:sp>
        <p:nvSpPr>
          <p:cNvPr id="17" name="Shape 15"/>
          <p:cNvSpPr/>
          <p:nvPr/>
        </p:nvSpPr>
        <p:spPr>
          <a:xfrm>
            <a:off x="594360" y="4681728"/>
            <a:ext cx="10881360" cy="722376"/>
          </a:xfrm>
          <a:prstGeom prst="roundRect">
            <a:avLst>
              <a:gd name="adj" fmla="val 10127"/>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8" name="Shape 16"/>
          <p:cNvSpPr/>
          <p:nvPr/>
        </p:nvSpPr>
        <p:spPr>
          <a:xfrm>
            <a:off x="758952" y="4841748"/>
            <a:ext cx="402336" cy="402336"/>
          </a:xfrm>
          <a:prstGeom prst="ellipse">
            <a:avLst/>
          </a:prstGeom>
          <a:solidFill>
            <a:srgbClr val="0F1B2D"/>
          </a:solidFill>
          <a:ln/>
        </p:spPr>
        <p:txBody>
          <a:bodyPr/>
          <a:lstStyle/>
          <a:p>
            <a:endParaRPr lang="en-PH"/>
          </a:p>
        </p:txBody>
      </p:sp>
      <p:sp>
        <p:nvSpPr>
          <p:cNvPr id="19" name="Text 17"/>
          <p:cNvSpPr/>
          <p:nvPr/>
        </p:nvSpPr>
        <p:spPr>
          <a:xfrm>
            <a:off x="758952" y="4841748"/>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280160" y="4736592"/>
            <a:ext cx="10012680" cy="612648"/>
          </a:xfrm>
          <a:prstGeom prst="rect">
            <a:avLst/>
          </a:prstGeom>
          <a:noFill/>
          <a:ln/>
        </p:spPr>
        <p:txBody>
          <a:bodyPr wrap="square" rtlCol="0" anchor="ctr"/>
          <a:lstStyle/>
          <a:p>
            <a:pPr marL="0" indent="0">
              <a:lnSpc>
                <a:spcPct val="105000"/>
              </a:lnSpc>
              <a:buNone/>
            </a:pPr>
            <a:r>
              <a:rPr lang="en-US" sz="1600" dirty="0">
                <a:solidFill>
                  <a:srgbClr val="1B2733"/>
                </a:solidFill>
                <a:latin typeface="Calibri" pitchFamily="34" charset="0"/>
                <a:ea typeface="Calibri" pitchFamily="34" charset="-122"/>
                <a:cs typeface="Calibri" pitchFamily="34" charset="-120"/>
              </a:rPr>
              <a:t>Create and manipulate relational databases using MySQL and basic SQL statements.</a:t>
            </a:r>
            <a:endParaRPr lang="en-US" sz="1600" dirty="0"/>
          </a:p>
        </p:txBody>
      </p:sp>
      <p:sp>
        <p:nvSpPr>
          <p:cNvPr id="21" name="Shape 19"/>
          <p:cNvSpPr/>
          <p:nvPr/>
        </p:nvSpPr>
        <p:spPr>
          <a:xfrm>
            <a:off x="594360" y="5678424"/>
            <a:ext cx="10881360" cy="722376"/>
          </a:xfrm>
          <a:prstGeom prst="roundRect">
            <a:avLst>
              <a:gd name="adj" fmla="val 10127"/>
            </a:avLst>
          </a:prstGeom>
          <a:solidFill>
            <a:schemeClr val="bg1">
              <a:lumMod val="95000"/>
            </a:schemeClr>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2" name="Shape 20"/>
          <p:cNvSpPr/>
          <p:nvPr/>
        </p:nvSpPr>
        <p:spPr>
          <a:xfrm>
            <a:off x="758952" y="5838444"/>
            <a:ext cx="402336" cy="402336"/>
          </a:xfrm>
          <a:prstGeom prst="ellipse">
            <a:avLst/>
          </a:prstGeom>
          <a:solidFill>
            <a:srgbClr val="0F1B2D"/>
          </a:solidFill>
          <a:ln/>
        </p:spPr>
        <p:txBody>
          <a:bodyPr/>
          <a:lstStyle/>
          <a:p>
            <a:endParaRPr lang="en-PH"/>
          </a:p>
        </p:txBody>
      </p:sp>
      <p:sp>
        <p:nvSpPr>
          <p:cNvPr id="23" name="Text 21"/>
          <p:cNvSpPr/>
          <p:nvPr/>
        </p:nvSpPr>
        <p:spPr>
          <a:xfrm>
            <a:off x="758952" y="5838444"/>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280160" y="5733288"/>
            <a:ext cx="10012680" cy="612648"/>
          </a:xfrm>
          <a:prstGeom prst="rect">
            <a:avLst/>
          </a:prstGeom>
          <a:noFill/>
          <a:ln/>
        </p:spPr>
        <p:txBody>
          <a:bodyPr wrap="square" rtlCol="0" anchor="ctr"/>
          <a:lstStyle/>
          <a:p>
            <a:pPr marL="0" indent="0">
              <a:lnSpc>
                <a:spcPct val="105000"/>
              </a:lnSpc>
              <a:buNone/>
            </a:pPr>
            <a:r>
              <a:rPr lang="en-US" sz="1600" dirty="0">
                <a:solidFill>
                  <a:srgbClr val="1B2733"/>
                </a:solidFill>
                <a:latin typeface="Calibri" pitchFamily="34" charset="0"/>
                <a:ea typeface="Calibri" pitchFamily="34" charset="-122"/>
                <a:cs typeface="Calibri" pitchFamily="34" charset="-120"/>
              </a:rPr>
              <a:t>Retrieve, update, and manage data using SQL while applying database design principles.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Course Requirements / Outputs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Quizzes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Seatworks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Laboratory exercises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Activities</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Midterm examination</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Final examination</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Database project proposal</a:t>
            </a:r>
            <a:endParaRPr lang="en-US" sz="2000" dirty="0"/>
          </a:p>
          <a:p>
            <a:pPr marL="342900" indent="-342900">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Final Database project &amp; presentation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Grading System</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37360"/>
            <a:ext cx="5280660" cy="3931920"/>
          </a:xfrm>
          <a:prstGeom prst="roundRect">
            <a:avLst>
              <a:gd name="adj" fmla="val 232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594360" y="1737360"/>
            <a:ext cx="5280660" cy="594360"/>
          </a:xfrm>
          <a:prstGeom prst="rect">
            <a:avLst/>
          </a:prstGeom>
          <a:solidFill>
            <a:srgbClr val="0F1B2D"/>
          </a:solidFill>
          <a:ln/>
        </p:spPr>
        <p:txBody>
          <a:bodyPr/>
          <a:lstStyle/>
          <a:p>
            <a:endParaRPr lang="en-PH"/>
          </a:p>
        </p:txBody>
      </p:sp>
      <p:sp>
        <p:nvSpPr>
          <p:cNvPr id="7" name="Text 5"/>
          <p:cNvSpPr/>
          <p:nvPr/>
        </p:nvSpPr>
        <p:spPr>
          <a:xfrm>
            <a:off x="594360" y="1737360"/>
            <a:ext cx="5280660" cy="59436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Lecture</a:t>
            </a:r>
            <a:endParaRPr lang="en-US" sz="1700" dirty="0"/>
          </a:p>
        </p:txBody>
      </p:sp>
      <p:sp>
        <p:nvSpPr>
          <p:cNvPr id="8" name="Text 6"/>
          <p:cNvSpPr/>
          <p:nvPr/>
        </p:nvSpPr>
        <p:spPr>
          <a:xfrm>
            <a:off x="914400" y="2331720"/>
            <a:ext cx="3817620" cy="83439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Midterm &amp; Final Exam</a:t>
            </a:r>
            <a:endParaRPr lang="en-US" sz="1300" dirty="0"/>
          </a:p>
        </p:txBody>
      </p:sp>
      <p:sp>
        <p:nvSpPr>
          <p:cNvPr id="9" name="Text 7"/>
          <p:cNvSpPr/>
          <p:nvPr/>
        </p:nvSpPr>
        <p:spPr>
          <a:xfrm>
            <a:off x="4640580" y="2331720"/>
            <a:ext cx="914400" cy="834390"/>
          </a:xfrm>
          <a:prstGeom prst="rect">
            <a:avLst/>
          </a:prstGeom>
          <a:noFill/>
          <a:ln/>
        </p:spPr>
        <p:txBody>
          <a:bodyPr wrap="square" rtlCol="0" anchor="ctr"/>
          <a:lstStyle/>
          <a:p>
            <a:pPr marL="0" indent="0" algn="r">
              <a:buNone/>
            </a:pPr>
            <a:r>
              <a:rPr lang="en-US" sz="1500" b="1" dirty="0">
                <a:solidFill>
                  <a:srgbClr val="0F1B2D"/>
                </a:solidFill>
                <a:latin typeface="Calibri" pitchFamily="34" charset="0"/>
                <a:ea typeface="Calibri" pitchFamily="34" charset="-122"/>
                <a:cs typeface="Calibri" pitchFamily="34" charset="-120"/>
              </a:rPr>
              <a:t>40%</a:t>
            </a:r>
            <a:endParaRPr lang="en-US" sz="1500" dirty="0"/>
          </a:p>
        </p:txBody>
      </p:sp>
      <p:sp>
        <p:nvSpPr>
          <p:cNvPr id="10" name="Shape 8"/>
          <p:cNvSpPr/>
          <p:nvPr/>
        </p:nvSpPr>
        <p:spPr>
          <a:xfrm>
            <a:off x="868680" y="3166110"/>
            <a:ext cx="4732020" cy="0"/>
          </a:xfrm>
          <a:prstGeom prst="line">
            <a:avLst/>
          </a:prstGeom>
          <a:noFill/>
          <a:ln w="12700">
            <a:solidFill>
              <a:srgbClr val="E2E8F0"/>
            </a:solidFill>
            <a:prstDash val="solid"/>
          </a:ln>
        </p:spPr>
        <p:txBody>
          <a:bodyPr/>
          <a:lstStyle/>
          <a:p>
            <a:endParaRPr lang="en-PH"/>
          </a:p>
        </p:txBody>
      </p:sp>
      <p:sp>
        <p:nvSpPr>
          <p:cNvPr id="11" name="Text 9"/>
          <p:cNvSpPr/>
          <p:nvPr/>
        </p:nvSpPr>
        <p:spPr>
          <a:xfrm>
            <a:off x="914400" y="3166110"/>
            <a:ext cx="3817620" cy="83439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Quizzes &amp; Activities</a:t>
            </a:r>
            <a:endParaRPr lang="en-US" sz="1300" dirty="0"/>
          </a:p>
        </p:txBody>
      </p:sp>
      <p:sp>
        <p:nvSpPr>
          <p:cNvPr id="12" name="Text 10"/>
          <p:cNvSpPr/>
          <p:nvPr/>
        </p:nvSpPr>
        <p:spPr>
          <a:xfrm>
            <a:off x="4640580" y="3166110"/>
            <a:ext cx="914400" cy="834390"/>
          </a:xfrm>
          <a:prstGeom prst="rect">
            <a:avLst/>
          </a:prstGeom>
          <a:noFill/>
          <a:ln/>
        </p:spPr>
        <p:txBody>
          <a:bodyPr wrap="square" rtlCol="0" anchor="ctr"/>
          <a:lstStyle/>
          <a:p>
            <a:pPr marL="0" indent="0" algn="r">
              <a:buNone/>
            </a:pPr>
            <a:r>
              <a:rPr lang="en-US" sz="1500" b="1" dirty="0">
                <a:solidFill>
                  <a:srgbClr val="0F1B2D"/>
                </a:solidFill>
                <a:latin typeface="Calibri" pitchFamily="34" charset="0"/>
                <a:ea typeface="Calibri" pitchFamily="34" charset="-122"/>
                <a:cs typeface="Calibri" pitchFamily="34" charset="-120"/>
              </a:rPr>
              <a:t>30%</a:t>
            </a:r>
            <a:endParaRPr lang="en-US" sz="1500" dirty="0"/>
          </a:p>
        </p:txBody>
      </p:sp>
      <p:sp>
        <p:nvSpPr>
          <p:cNvPr id="13" name="Shape 11"/>
          <p:cNvSpPr/>
          <p:nvPr/>
        </p:nvSpPr>
        <p:spPr>
          <a:xfrm>
            <a:off x="868680" y="4000500"/>
            <a:ext cx="4732020" cy="0"/>
          </a:xfrm>
          <a:prstGeom prst="line">
            <a:avLst/>
          </a:prstGeom>
          <a:noFill/>
          <a:ln w="12700">
            <a:solidFill>
              <a:srgbClr val="E2E8F0"/>
            </a:solidFill>
            <a:prstDash val="solid"/>
          </a:ln>
        </p:spPr>
        <p:txBody>
          <a:bodyPr/>
          <a:lstStyle/>
          <a:p>
            <a:endParaRPr lang="en-PH"/>
          </a:p>
        </p:txBody>
      </p:sp>
      <p:sp>
        <p:nvSpPr>
          <p:cNvPr id="14" name="Text 12"/>
          <p:cNvSpPr/>
          <p:nvPr/>
        </p:nvSpPr>
        <p:spPr>
          <a:xfrm>
            <a:off x="914400" y="4000500"/>
            <a:ext cx="3817620" cy="83439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Outputs &amp; Projects</a:t>
            </a:r>
            <a:endParaRPr lang="en-US" sz="1300" dirty="0"/>
          </a:p>
        </p:txBody>
      </p:sp>
      <p:sp>
        <p:nvSpPr>
          <p:cNvPr id="15" name="Text 13"/>
          <p:cNvSpPr/>
          <p:nvPr/>
        </p:nvSpPr>
        <p:spPr>
          <a:xfrm>
            <a:off x="4640580" y="4000500"/>
            <a:ext cx="914400" cy="834390"/>
          </a:xfrm>
          <a:prstGeom prst="rect">
            <a:avLst/>
          </a:prstGeom>
          <a:noFill/>
          <a:ln/>
        </p:spPr>
        <p:txBody>
          <a:bodyPr wrap="square" rtlCol="0" anchor="ctr"/>
          <a:lstStyle/>
          <a:p>
            <a:pPr marL="0" indent="0" algn="r">
              <a:buNone/>
            </a:pPr>
            <a:r>
              <a:rPr lang="en-US" sz="1500" b="1" dirty="0">
                <a:solidFill>
                  <a:srgbClr val="0F1B2D"/>
                </a:solidFill>
                <a:latin typeface="Calibri" pitchFamily="34" charset="0"/>
                <a:ea typeface="Calibri" pitchFamily="34" charset="-122"/>
                <a:cs typeface="Calibri" pitchFamily="34" charset="-120"/>
              </a:rPr>
              <a:t>20%</a:t>
            </a:r>
            <a:endParaRPr lang="en-US" sz="1500" dirty="0"/>
          </a:p>
        </p:txBody>
      </p:sp>
      <p:sp>
        <p:nvSpPr>
          <p:cNvPr id="16" name="Shape 14"/>
          <p:cNvSpPr/>
          <p:nvPr/>
        </p:nvSpPr>
        <p:spPr>
          <a:xfrm>
            <a:off x="868680" y="4834890"/>
            <a:ext cx="4732020" cy="0"/>
          </a:xfrm>
          <a:prstGeom prst="line">
            <a:avLst/>
          </a:prstGeom>
          <a:noFill/>
          <a:ln w="12700">
            <a:solidFill>
              <a:srgbClr val="E2E8F0"/>
            </a:solidFill>
            <a:prstDash val="solid"/>
          </a:ln>
        </p:spPr>
        <p:txBody>
          <a:bodyPr/>
          <a:lstStyle/>
          <a:p>
            <a:endParaRPr lang="en-PH"/>
          </a:p>
        </p:txBody>
      </p:sp>
      <p:sp>
        <p:nvSpPr>
          <p:cNvPr id="17" name="Text 15"/>
          <p:cNvSpPr/>
          <p:nvPr/>
        </p:nvSpPr>
        <p:spPr>
          <a:xfrm>
            <a:off x="914400" y="4834890"/>
            <a:ext cx="3817620" cy="83439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Oral Participation / Attendance</a:t>
            </a:r>
            <a:endParaRPr lang="en-US" sz="1300" dirty="0"/>
          </a:p>
        </p:txBody>
      </p:sp>
      <p:sp>
        <p:nvSpPr>
          <p:cNvPr id="18" name="Text 16"/>
          <p:cNvSpPr/>
          <p:nvPr/>
        </p:nvSpPr>
        <p:spPr>
          <a:xfrm>
            <a:off x="4640580" y="4834890"/>
            <a:ext cx="914400" cy="834390"/>
          </a:xfrm>
          <a:prstGeom prst="rect">
            <a:avLst/>
          </a:prstGeom>
          <a:noFill/>
          <a:ln/>
        </p:spPr>
        <p:txBody>
          <a:bodyPr wrap="square" rtlCol="0" anchor="ctr"/>
          <a:lstStyle/>
          <a:p>
            <a:pPr marL="0" indent="0" algn="r">
              <a:buNone/>
            </a:pPr>
            <a:r>
              <a:rPr lang="en-US" sz="1500" b="1" dirty="0">
                <a:solidFill>
                  <a:srgbClr val="0F1B2D"/>
                </a:solidFill>
                <a:latin typeface="Calibri" pitchFamily="34" charset="0"/>
                <a:ea typeface="Calibri" pitchFamily="34" charset="-122"/>
                <a:cs typeface="Calibri" pitchFamily="34" charset="-120"/>
              </a:rPr>
              <a:t>10%</a:t>
            </a:r>
            <a:endParaRPr lang="en-US" sz="1500" dirty="0"/>
          </a:p>
        </p:txBody>
      </p:sp>
      <p:sp>
        <p:nvSpPr>
          <p:cNvPr id="19" name="Shape 17"/>
          <p:cNvSpPr/>
          <p:nvPr/>
        </p:nvSpPr>
        <p:spPr>
          <a:xfrm>
            <a:off x="6195060" y="1737360"/>
            <a:ext cx="5280660" cy="3931920"/>
          </a:xfrm>
          <a:prstGeom prst="roundRect">
            <a:avLst>
              <a:gd name="adj" fmla="val 2326"/>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0" name="Shape 18"/>
          <p:cNvSpPr/>
          <p:nvPr/>
        </p:nvSpPr>
        <p:spPr>
          <a:xfrm>
            <a:off x="6195060" y="1737360"/>
            <a:ext cx="5280660" cy="594360"/>
          </a:xfrm>
          <a:prstGeom prst="rect">
            <a:avLst/>
          </a:prstGeom>
          <a:solidFill>
            <a:srgbClr val="16324F"/>
          </a:solidFill>
          <a:ln/>
        </p:spPr>
        <p:txBody>
          <a:bodyPr/>
          <a:lstStyle/>
          <a:p>
            <a:endParaRPr lang="en-PH"/>
          </a:p>
        </p:txBody>
      </p:sp>
      <p:sp>
        <p:nvSpPr>
          <p:cNvPr id="21" name="Text 19"/>
          <p:cNvSpPr/>
          <p:nvPr/>
        </p:nvSpPr>
        <p:spPr>
          <a:xfrm>
            <a:off x="6195060" y="1737360"/>
            <a:ext cx="5280660" cy="59436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Laboratory</a:t>
            </a:r>
            <a:endParaRPr lang="en-US" sz="1700" dirty="0"/>
          </a:p>
        </p:txBody>
      </p:sp>
      <p:sp>
        <p:nvSpPr>
          <p:cNvPr id="22" name="Text 20"/>
          <p:cNvSpPr/>
          <p:nvPr/>
        </p:nvSpPr>
        <p:spPr>
          <a:xfrm>
            <a:off x="6515100" y="2331720"/>
            <a:ext cx="3817620" cy="111252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Laboratory Exercises</a:t>
            </a:r>
            <a:endParaRPr lang="en-US" sz="1300" dirty="0"/>
          </a:p>
        </p:txBody>
      </p:sp>
      <p:sp>
        <p:nvSpPr>
          <p:cNvPr id="23" name="Text 21"/>
          <p:cNvSpPr/>
          <p:nvPr/>
        </p:nvSpPr>
        <p:spPr>
          <a:xfrm>
            <a:off x="10241280" y="2331720"/>
            <a:ext cx="914400" cy="1112520"/>
          </a:xfrm>
          <a:prstGeom prst="rect">
            <a:avLst/>
          </a:prstGeom>
          <a:noFill/>
          <a:ln/>
        </p:spPr>
        <p:txBody>
          <a:bodyPr wrap="square" rtlCol="0" anchor="ctr"/>
          <a:lstStyle/>
          <a:p>
            <a:pPr marL="0" indent="0" algn="r">
              <a:buNone/>
            </a:pPr>
            <a:r>
              <a:rPr lang="en-US" sz="1500" b="1" dirty="0">
                <a:solidFill>
                  <a:srgbClr val="16324F"/>
                </a:solidFill>
                <a:latin typeface="Calibri" pitchFamily="34" charset="0"/>
                <a:ea typeface="Calibri" pitchFamily="34" charset="-122"/>
                <a:cs typeface="Calibri" pitchFamily="34" charset="-120"/>
              </a:rPr>
              <a:t>30%</a:t>
            </a:r>
            <a:endParaRPr lang="en-US" sz="1500" dirty="0"/>
          </a:p>
        </p:txBody>
      </p:sp>
      <p:sp>
        <p:nvSpPr>
          <p:cNvPr id="24" name="Shape 22"/>
          <p:cNvSpPr/>
          <p:nvPr/>
        </p:nvSpPr>
        <p:spPr>
          <a:xfrm>
            <a:off x="6469380" y="3444240"/>
            <a:ext cx="4732020" cy="0"/>
          </a:xfrm>
          <a:prstGeom prst="line">
            <a:avLst/>
          </a:prstGeom>
          <a:noFill/>
          <a:ln w="12700">
            <a:solidFill>
              <a:srgbClr val="E2E8F0"/>
            </a:solidFill>
            <a:prstDash val="solid"/>
          </a:ln>
        </p:spPr>
        <p:txBody>
          <a:bodyPr/>
          <a:lstStyle/>
          <a:p>
            <a:endParaRPr lang="en-PH"/>
          </a:p>
        </p:txBody>
      </p:sp>
      <p:sp>
        <p:nvSpPr>
          <p:cNvPr id="25" name="Text 23"/>
          <p:cNvSpPr/>
          <p:nvPr/>
        </p:nvSpPr>
        <p:spPr>
          <a:xfrm>
            <a:off x="6515100" y="3444240"/>
            <a:ext cx="3817620" cy="111252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Practical Exam</a:t>
            </a:r>
            <a:endParaRPr lang="en-US" sz="1300" dirty="0"/>
          </a:p>
        </p:txBody>
      </p:sp>
      <p:sp>
        <p:nvSpPr>
          <p:cNvPr id="26" name="Text 24"/>
          <p:cNvSpPr/>
          <p:nvPr/>
        </p:nvSpPr>
        <p:spPr>
          <a:xfrm>
            <a:off x="10241280" y="3444240"/>
            <a:ext cx="914400" cy="1112520"/>
          </a:xfrm>
          <a:prstGeom prst="rect">
            <a:avLst/>
          </a:prstGeom>
          <a:noFill/>
          <a:ln/>
        </p:spPr>
        <p:txBody>
          <a:bodyPr wrap="square" rtlCol="0" anchor="ctr"/>
          <a:lstStyle/>
          <a:p>
            <a:pPr marL="0" indent="0" algn="r">
              <a:buNone/>
            </a:pPr>
            <a:r>
              <a:rPr lang="en-US" sz="1500" b="1" dirty="0">
                <a:solidFill>
                  <a:srgbClr val="16324F"/>
                </a:solidFill>
                <a:latin typeface="Calibri" pitchFamily="34" charset="0"/>
                <a:ea typeface="Calibri" pitchFamily="34" charset="-122"/>
                <a:cs typeface="Calibri" pitchFamily="34" charset="-120"/>
              </a:rPr>
              <a:t>30%</a:t>
            </a:r>
            <a:endParaRPr lang="en-US" sz="1500" dirty="0"/>
          </a:p>
        </p:txBody>
      </p:sp>
      <p:sp>
        <p:nvSpPr>
          <p:cNvPr id="27" name="Shape 25"/>
          <p:cNvSpPr/>
          <p:nvPr/>
        </p:nvSpPr>
        <p:spPr>
          <a:xfrm>
            <a:off x="6469380" y="4556760"/>
            <a:ext cx="4732020" cy="0"/>
          </a:xfrm>
          <a:prstGeom prst="line">
            <a:avLst/>
          </a:prstGeom>
          <a:noFill/>
          <a:ln w="12700">
            <a:solidFill>
              <a:srgbClr val="E2E8F0"/>
            </a:solidFill>
            <a:prstDash val="solid"/>
          </a:ln>
        </p:spPr>
        <p:txBody>
          <a:bodyPr/>
          <a:lstStyle/>
          <a:p>
            <a:endParaRPr lang="en-PH"/>
          </a:p>
        </p:txBody>
      </p:sp>
      <p:sp>
        <p:nvSpPr>
          <p:cNvPr id="28" name="Text 26"/>
          <p:cNvSpPr/>
          <p:nvPr/>
        </p:nvSpPr>
        <p:spPr>
          <a:xfrm>
            <a:off x="6515100" y="4556760"/>
            <a:ext cx="3817620" cy="1112520"/>
          </a:xfrm>
          <a:prstGeom prst="rect">
            <a:avLst/>
          </a:prstGeom>
          <a:noFill/>
          <a:ln/>
        </p:spPr>
        <p:txBody>
          <a:bodyPr wrap="square" rtlCol="0" anchor="ctr"/>
          <a:lstStyle/>
          <a:p>
            <a:pPr marL="0" indent="0">
              <a:buNone/>
            </a:pPr>
            <a:r>
              <a:rPr lang="en-US" sz="1300" dirty="0">
                <a:solidFill>
                  <a:srgbClr val="1B2733"/>
                </a:solidFill>
                <a:latin typeface="Calibri" pitchFamily="34" charset="0"/>
                <a:ea typeface="Calibri" pitchFamily="34" charset="-122"/>
                <a:cs typeface="Calibri" pitchFamily="34" charset="-120"/>
              </a:rPr>
              <a:t>Project</a:t>
            </a:r>
            <a:endParaRPr lang="en-US" sz="1300" dirty="0"/>
          </a:p>
        </p:txBody>
      </p:sp>
      <p:sp>
        <p:nvSpPr>
          <p:cNvPr id="29" name="Text 27"/>
          <p:cNvSpPr/>
          <p:nvPr/>
        </p:nvSpPr>
        <p:spPr>
          <a:xfrm>
            <a:off x="10241280" y="4556760"/>
            <a:ext cx="914400" cy="1112520"/>
          </a:xfrm>
          <a:prstGeom prst="rect">
            <a:avLst/>
          </a:prstGeom>
          <a:noFill/>
          <a:ln/>
        </p:spPr>
        <p:txBody>
          <a:bodyPr wrap="square" rtlCol="0" anchor="ctr"/>
          <a:lstStyle/>
          <a:p>
            <a:pPr marL="0" indent="0" algn="r">
              <a:buNone/>
            </a:pPr>
            <a:r>
              <a:rPr lang="en-US" sz="1500" b="1" dirty="0">
                <a:solidFill>
                  <a:srgbClr val="16324F"/>
                </a:solidFill>
                <a:latin typeface="Calibri" pitchFamily="34" charset="0"/>
                <a:ea typeface="Calibri" pitchFamily="34" charset="-122"/>
                <a:cs typeface="Calibri" pitchFamily="34" charset="-120"/>
              </a:rPr>
              <a:t>40%</a:t>
            </a:r>
            <a:endParaRPr lang="en-US" sz="1500" dirty="0"/>
          </a:p>
        </p:txBody>
      </p:sp>
      <p:sp>
        <p:nvSpPr>
          <p:cNvPr id="30" name="Shape 28"/>
          <p:cNvSpPr/>
          <p:nvPr/>
        </p:nvSpPr>
        <p:spPr>
          <a:xfrm>
            <a:off x="594360" y="5943600"/>
            <a:ext cx="10881360" cy="731520"/>
          </a:xfrm>
          <a:prstGeom prst="roundRect">
            <a:avLst>
              <a:gd name="adj" fmla="val 12500"/>
            </a:avLst>
          </a:prstGeom>
          <a:solidFill>
            <a:srgbClr val="0F1B2D"/>
          </a:solidFill>
          <a:ln/>
        </p:spPr>
        <p:txBody>
          <a:bodyPr/>
          <a:lstStyle/>
          <a:p>
            <a:endParaRPr lang="en-PH"/>
          </a:p>
        </p:txBody>
      </p:sp>
      <p:sp>
        <p:nvSpPr>
          <p:cNvPr id="31" name="Text 29"/>
          <p:cNvSpPr/>
          <p:nvPr/>
        </p:nvSpPr>
        <p:spPr>
          <a:xfrm>
            <a:off x="594360" y="5943600"/>
            <a:ext cx="10881360"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Overall Grade:   </a:t>
            </a:r>
            <a:r>
              <a:rPr lang="en-US" sz="1400" b="1" dirty="0">
                <a:solidFill>
                  <a:srgbClr val="2FD4C4"/>
                </a:solidFill>
                <a:latin typeface="Calibri" pitchFamily="34" charset="0"/>
                <a:ea typeface="Calibri" pitchFamily="34" charset="-122"/>
                <a:cs typeface="Calibri" pitchFamily="34" charset="-120"/>
              </a:rPr>
              <a:t>Lecture 40%</a:t>
            </a:r>
            <a:r>
              <a:rPr lang="en-US" sz="1400" dirty="0">
                <a:solidFill>
                  <a:srgbClr val="8FA1B3"/>
                </a:solidFill>
                <a:latin typeface="Calibri" pitchFamily="34" charset="0"/>
                <a:ea typeface="Calibri" pitchFamily="34" charset="-122"/>
                <a:cs typeface="Calibri" pitchFamily="34" charset="-120"/>
              </a:rPr>
              <a:t>   +   </a:t>
            </a:r>
            <a:r>
              <a:rPr lang="en-US" sz="1400" b="1" dirty="0">
                <a:solidFill>
                  <a:srgbClr val="F2A93B"/>
                </a:solidFill>
                <a:latin typeface="Calibri" pitchFamily="34" charset="0"/>
                <a:ea typeface="Calibri" pitchFamily="34" charset="-122"/>
                <a:cs typeface="Calibri" pitchFamily="34" charset="-120"/>
              </a:rPr>
              <a:t>Laboratory 60%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Laboratory Policies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37360"/>
            <a:ext cx="5280660" cy="4480560"/>
          </a:xfrm>
          <a:prstGeom prst="roundRect">
            <a:avLst>
              <a:gd name="adj" fmla="val 2041"/>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Text 4"/>
          <p:cNvSpPr/>
          <p:nvPr/>
        </p:nvSpPr>
        <p:spPr>
          <a:xfrm>
            <a:off x="960120" y="2057400"/>
            <a:ext cx="454914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Inside the Laboratory</a:t>
            </a:r>
            <a:endParaRPr lang="en-US" sz="2000" dirty="0"/>
          </a:p>
        </p:txBody>
      </p:sp>
      <p:sp>
        <p:nvSpPr>
          <p:cNvPr id="7" name="Text 5"/>
          <p:cNvSpPr/>
          <p:nvPr/>
        </p:nvSpPr>
        <p:spPr>
          <a:xfrm>
            <a:off x="960120" y="2651760"/>
            <a:ext cx="4549140" cy="3291840"/>
          </a:xfrm>
          <a:prstGeom prst="rect">
            <a:avLst/>
          </a:prstGeom>
          <a:noFill/>
          <a:ln/>
        </p:spPr>
        <p:txBody>
          <a:bodyPr wrap="square" rtlCol="0" anchor="t"/>
          <a:lstStyle/>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No eating or drinking.</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Handle computers carefully.</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Do not install unauthorized software.</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Save your work often.</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Keep your workspace clean.</a:t>
            </a:r>
            <a:endParaRPr lang="en-US" dirty="0"/>
          </a:p>
        </p:txBody>
      </p:sp>
      <p:sp>
        <p:nvSpPr>
          <p:cNvPr id="8" name="Shape 6"/>
          <p:cNvSpPr/>
          <p:nvPr/>
        </p:nvSpPr>
        <p:spPr>
          <a:xfrm>
            <a:off x="6195060" y="1737360"/>
            <a:ext cx="5280660" cy="4480560"/>
          </a:xfrm>
          <a:prstGeom prst="roundRect">
            <a:avLst>
              <a:gd name="adj" fmla="val 2041"/>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9" name="Text 7"/>
          <p:cNvSpPr/>
          <p:nvPr/>
        </p:nvSpPr>
        <p:spPr>
          <a:xfrm>
            <a:off x="6560820" y="2057400"/>
            <a:ext cx="4549140" cy="457200"/>
          </a:xfrm>
          <a:prstGeom prst="rect">
            <a:avLst/>
          </a:prstGeom>
          <a:noFill/>
          <a:ln/>
        </p:spPr>
        <p:txBody>
          <a:bodyPr wrap="square" rtlCol="0" anchor="ctr"/>
          <a:lstStyle/>
          <a:p>
            <a:pPr marL="0" indent="0">
              <a:buNone/>
            </a:pPr>
            <a:r>
              <a:rPr lang="en-US" sz="2000" b="1" dirty="0">
                <a:solidFill>
                  <a:srgbClr val="0F1B2D"/>
                </a:solidFill>
                <a:latin typeface="Calibri" pitchFamily="34" charset="0"/>
                <a:ea typeface="Calibri" pitchFamily="34" charset="-122"/>
                <a:cs typeface="Calibri" pitchFamily="34" charset="-120"/>
              </a:rPr>
              <a:t>During Activities</a:t>
            </a:r>
            <a:endParaRPr lang="en-US" sz="2000" dirty="0"/>
          </a:p>
        </p:txBody>
      </p:sp>
      <p:sp>
        <p:nvSpPr>
          <p:cNvPr id="10" name="Text 8"/>
          <p:cNvSpPr/>
          <p:nvPr/>
        </p:nvSpPr>
        <p:spPr>
          <a:xfrm>
            <a:off x="6560820" y="2651760"/>
            <a:ext cx="4549140" cy="3291840"/>
          </a:xfrm>
          <a:prstGeom prst="rect">
            <a:avLst/>
          </a:prstGeom>
          <a:noFill/>
          <a:ln/>
        </p:spPr>
        <p:txBody>
          <a:bodyPr wrap="square" rtlCol="0" anchor="t"/>
          <a:lstStyle/>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Follow instructions.</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Ask questions if you need help.</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No copying another student's work.</a:t>
            </a:r>
            <a:endParaRPr lang="en-US" dirty="0"/>
          </a:p>
          <a:p>
            <a:pPr marL="342900" indent="-342900">
              <a:spcAft>
                <a:spcPts val="1400"/>
              </a:spcAft>
              <a:buSzPct val="100000"/>
              <a:buChar char="✓"/>
            </a:pPr>
            <a:r>
              <a:rPr lang="en-US" dirty="0">
                <a:solidFill>
                  <a:srgbClr val="1B2733"/>
                </a:solidFill>
                <a:latin typeface="Calibri" pitchFamily="34" charset="0"/>
                <a:ea typeface="Calibri" pitchFamily="34" charset="-122"/>
                <a:cs typeface="Calibri" pitchFamily="34" charset="-120"/>
              </a:rPr>
              <a:t>Practice academic honesty.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3080-E1F7-70AE-2839-7C2CC035B9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6A5714-9561-46DF-EECF-19F435CFBC29}"/>
              </a:ext>
            </a:extLst>
          </p:cNvPr>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COURSE ORIENTATION</a:t>
            </a:r>
            <a:endParaRPr lang="en-US" sz="1200" dirty="0"/>
          </a:p>
        </p:txBody>
      </p:sp>
      <p:sp>
        <p:nvSpPr>
          <p:cNvPr id="3" name="Text 1">
            <a:extLst>
              <a:ext uri="{FF2B5EF4-FFF2-40B4-BE49-F238E27FC236}">
                <a16:creationId xmlns:a16="http://schemas.microsoft.com/office/drawing/2014/main" id="{DBDBD0EF-9964-0E3C-DD7E-2A8E787001EB}"/>
              </a:ext>
            </a:extLst>
          </p:cNvPr>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Class Expectations</a:t>
            </a:r>
            <a:endParaRPr lang="en-US" sz="2700" dirty="0"/>
          </a:p>
        </p:txBody>
      </p:sp>
      <p:sp>
        <p:nvSpPr>
          <p:cNvPr id="4" name="Shape 2">
            <a:extLst>
              <a:ext uri="{FF2B5EF4-FFF2-40B4-BE49-F238E27FC236}">
                <a16:creationId xmlns:a16="http://schemas.microsoft.com/office/drawing/2014/main" id="{15707F2E-EECB-5C1D-7F29-A400FD461869}"/>
              </a:ext>
            </a:extLst>
          </p:cNvPr>
          <p:cNvSpPr/>
          <p:nvPr/>
        </p:nvSpPr>
        <p:spPr>
          <a:xfrm>
            <a:off x="548640" y="1371600"/>
            <a:ext cx="502920" cy="41148"/>
          </a:xfrm>
          <a:prstGeom prst="rect">
            <a:avLst/>
          </a:prstGeom>
          <a:solidFill>
            <a:srgbClr val="F2A93B"/>
          </a:solidFill>
          <a:ln/>
        </p:spPr>
        <p:txBody>
          <a:bodyPr/>
          <a:lstStyle/>
          <a:p>
            <a:endParaRPr lang="en-PH"/>
          </a:p>
        </p:txBody>
      </p:sp>
      <p:sp>
        <p:nvSpPr>
          <p:cNvPr id="5" name="Text 3">
            <a:extLst>
              <a:ext uri="{FF2B5EF4-FFF2-40B4-BE49-F238E27FC236}">
                <a16:creationId xmlns:a16="http://schemas.microsoft.com/office/drawing/2014/main" id="{2D6A3B0B-845A-9F39-AE42-F480FDC53391}"/>
              </a:ext>
            </a:extLst>
          </p:cNvPr>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sz="2000" dirty="0">
                <a:solidFill>
                  <a:srgbClr val="1B2733"/>
                </a:solidFill>
                <a:ea typeface="Calibri" pitchFamily="34" charset="-122"/>
                <a:cs typeface="Calibri" pitchFamily="34" charset="-120"/>
              </a:rPr>
              <a:t>Respect</a:t>
            </a:r>
            <a:endParaRPr lang="en-US" sz="2000" dirty="0"/>
          </a:p>
          <a:p>
            <a:pPr marL="342900" indent="-342900">
              <a:spcAft>
                <a:spcPts val="1200"/>
              </a:spcAft>
              <a:buSzPct val="100000"/>
              <a:buChar char="•"/>
            </a:pPr>
            <a:r>
              <a:rPr lang="en-US" sz="2000" dirty="0">
                <a:solidFill>
                  <a:srgbClr val="1B2733"/>
                </a:solidFill>
                <a:ea typeface="Calibri" pitchFamily="34" charset="-122"/>
                <a:cs typeface="Calibri" pitchFamily="34" charset="-120"/>
              </a:rPr>
              <a:t> Attendance and Punctuality</a:t>
            </a:r>
            <a:endParaRPr lang="en-US" sz="2000" dirty="0"/>
          </a:p>
          <a:p>
            <a:pPr marL="342900" indent="-342900">
              <a:spcAft>
                <a:spcPts val="1200"/>
              </a:spcAft>
              <a:buSzPct val="100000"/>
              <a:buChar char="•"/>
            </a:pPr>
            <a:r>
              <a:rPr lang="en-US" sz="2000" dirty="0">
                <a:solidFill>
                  <a:srgbClr val="1B2733"/>
                </a:solidFill>
                <a:ea typeface="Calibri" pitchFamily="34" charset="-122"/>
                <a:cs typeface="Calibri" pitchFamily="34" charset="-120"/>
              </a:rPr>
              <a:t>Active Participation</a:t>
            </a:r>
            <a:endParaRPr lang="en-US" sz="2000" dirty="0"/>
          </a:p>
          <a:p>
            <a:pPr marL="342900" indent="-342900">
              <a:spcAft>
                <a:spcPts val="1200"/>
              </a:spcAft>
              <a:buSzPct val="100000"/>
              <a:buChar char="•"/>
            </a:pPr>
            <a:r>
              <a:rPr lang="en-US" sz="2000" dirty="0">
                <a:solidFill>
                  <a:srgbClr val="1B2733"/>
                </a:solidFill>
                <a:ea typeface="Calibri" pitchFamily="34" charset="-122"/>
                <a:cs typeface="Calibri" pitchFamily="34" charset="-120"/>
              </a:rPr>
              <a:t>Preparation</a:t>
            </a:r>
            <a:endParaRPr lang="en-US" sz="2000" dirty="0"/>
          </a:p>
          <a:p>
            <a:pPr marL="342900" indent="-342900">
              <a:spcAft>
                <a:spcPts val="1200"/>
              </a:spcAft>
              <a:buSzPct val="100000"/>
              <a:buChar char="•"/>
            </a:pPr>
            <a:r>
              <a:rPr lang="en-PH" sz="2000" dirty="0">
                <a:solidFill>
                  <a:srgbClr val="1B2733"/>
                </a:solidFill>
                <a:ea typeface="Calibri" pitchFamily="34" charset="-122"/>
                <a:cs typeface="Calibri" pitchFamily="34" charset="-120"/>
              </a:rPr>
              <a:t>Responsibility</a:t>
            </a:r>
            <a:r>
              <a:rPr lang="en-PH" sz="2000" dirty="0"/>
              <a:t> for Your Own Learning</a:t>
            </a:r>
          </a:p>
          <a:p>
            <a:pPr marL="342900" indent="-342900">
              <a:spcAft>
                <a:spcPts val="1200"/>
              </a:spcAft>
              <a:buSzPct val="100000"/>
              <a:buChar char="•"/>
            </a:pPr>
            <a:r>
              <a:rPr lang="en-US" sz="2000" dirty="0">
                <a:solidFill>
                  <a:srgbClr val="1B2733"/>
                </a:solidFill>
                <a:ea typeface="Calibri" pitchFamily="34" charset="-122"/>
                <a:cs typeface="Calibri" pitchFamily="34" charset="-120"/>
              </a:rPr>
              <a:t>Academic Honesty</a:t>
            </a:r>
          </a:p>
          <a:p>
            <a:pPr marL="342900" indent="-342900">
              <a:spcAft>
                <a:spcPts val="1200"/>
              </a:spcAft>
              <a:buSzPct val="100000"/>
              <a:buChar char="•"/>
            </a:pPr>
            <a:r>
              <a:rPr lang="en-US" sz="2000" dirty="0">
                <a:solidFill>
                  <a:srgbClr val="1B2733"/>
                </a:solidFill>
                <a:ea typeface="Calibri" pitchFamily="34" charset="-122"/>
                <a:cs typeface="Calibri" pitchFamily="34" charset="-120"/>
              </a:rPr>
              <a:t>Proper Use of Technology</a:t>
            </a:r>
          </a:p>
          <a:p>
            <a:pPr marL="342900" indent="-342900">
              <a:spcAft>
                <a:spcPts val="1200"/>
              </a:spcAft>
              <a:buSzPct val="100000"/>
              <a:buChar char="•"/>
            </a:pPr>
            <a:r>
              <a:rPr lang="en-PH" sz="2000" dirty="0"/>
              <a:t>Communication</a:t>
            </a:r>
          </a:p>
          <a:p>
            <a:pPr marL="342900" indent="-342900">
              <a:spcAft>
                <a:spcPts val="1200"/>
              </a:spcAft>
              <a:buSzPct val="100000"/>
              <a:buChar char="•"/>
            </a:pPr>
            <a:r>
              <a:rPr lang="en-PH" sz="2000" dirty="0"/>
              <a:t>Deadlines</a:t>
            </a:r>
          </a:p>
          <a:p>
            <a:pPr marL="342900" indent="-342900">
              <a:spcAft>
                <a:spcPts val="1200"/>
              </a:spcAft>
              <a:buSzPct val="100000"/>
              <a:buChar char="•"/>
            </a:pPr>
            <a:r>
              <a:rPr lang="en-PH" sz="2000" dirty="0"/>
              <a:t>Mistakes are part of Learning</a:t>
            </a:r>
            <a:endParaRPr lang="en-US" sz="2000" dirty="0"/>
          </a:p>
        </p:txBody>
      </p:sp>
    </p:spTree>
    <p:extLst>
      <p:ext uri="{BB962C8B-B14F-4D97-AF65-F5344CB8AC3E}">
        <p14:creationId xmlns:p14="http://schemas.microsoft.com/office/powerpoint/2010/main" val="3831213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0" y="0"/>
            <a:ext cx="12192000" cy="6858000"/>
          </a:xfrm>
          <a:prstGeom prst="rect">
            <a:avLst/>
          </a:prstGeom>
          <a:solidFill>
            <a:srgbClr val="0F1B2D"/>
          </a:solidFill>
          <a:ln/>
        </p:spPr>
        <p:txBody>
          <a:bodyPr/>
          <a:lstStyle/>
          <a:p>
            <a:endParaRPr lang="en-PH"/>
          </a:p>
        </p:txBody>
      </p:sp>
      <p:sp>
        <p:nvSpPr>
          <p:cNvPr id="8" name="Text 6"/>
          <p:cNvSpPr/>
          <p:nvPr/>
        </p:nvSpPr>
        <p:spPr>
          <a:xfrm>
            <a:off x="822960" y="1554480"/>
            <a:ext cx="5486400" cy="457200"/>
          </a:xfrm>
          <a:prstGeom prst="rect">
            <a:avLst/>
          </a:prstGeom>
          <a:noFill/>
          <a:ln/>
        </p:spPr>
        <p:txBody>
          <a:bodyPr wrap="square" rtlCol="0" anchor="ctr"/>
          <a:lstStyle/>
          <a:p>
            <a:pPr marL="0" indent="0">
              <a:buNone/>
            </a:pPr>
            <a:r>
              <a:rPr lang="en-US" sz="1600" b="1" kern="0" spc="300" dirty="0">
                <a:solidFill>
                  <a:srgbClr val="2FD4C4"/>
                </a:solidFill>
                <a:latin typeface="Calibri" pitchFamily="34" charset="0"/>
                <a:ea typeface="Calibri" pitchFamily="34" charset="-122"/>
                <a:cs typeface="Calibri" pitchFamily="34" charset="-120"/>
              </a:rPr>
              <a:t>IT2108</a:t>
            </a:r>
            <a:endParaRPr lang="en-US" sz="1600" dirty="0"/>
          </a:p>
        </p:txBody>
      </p:sp>
      <p:sp>
        <p:nvSpPr>
          <p:cNvPr id="9" name="Text 7"/>
          <p:cNvSpPr/>
          <p:nvPr/>
        </p:nvSpPr>
        <p:spPr>
          <a:xfrm>
            <a:off x="777240" y="1965960"/>
            <a:ext cx="7315200" cy="2194560"/>
          </a:xfrm>
          <a:prstGeom prst="rect">
            <a:avLst/>
          </a:prstGeom>
          <a:noFill/>
          <a:ln/>
        </p:spPr>
        <p:txBody>
          <a:bodyPr wrap="square" rtlCol="0" anchor="ctr"/>
          <a:lstStyle/>
          <a:p>
            <a:pPr marL="0" indent="0">
              <a:lnSpc>
                <a:spcPct val="102000"/>
              </a:lnSpc>
              <a:buNone/>
            </a:pPr>
            <a:r>
              <a:rPr lang="en-US" sz="5000" b="1" dirty="0">
                <a:solidFill>
                  <a:srgbClr val="FFFFFF"/>
                </a:solidFill>
                <a:latin typeface="Calibri" pitchFamily="34" charset="0"/>
                <a:ea typeface="Calibri" pitchFamily="34" charset="-122"/>
                <a:cs typeface="Calibri" pitchFamily="34" charset="-120"/>
              </a:rPr>
              <a:t>Fundamentals of</a:t>
            </a:r>
            <a:endParaRPr lang="en-US" sz="5000" dirty="0"/>
          </a:p>
          <a:p>
            <a:pPr marL="0" indent="0">
              <a:lnSpc>
                <a:spcPct val="102000"/>
              </a:lnSpc>
              <a:buNone/>
            </a:pPr>
            <a:r>
              <a:rPr lang="en-US" sz="5000" b="1" dirty="0">
                <a:solidFill>
                  <a:srgbClr val="FFFFFF"/>
                </a:solidFill>
                <a:latin typeface="Calibri" pitchFamily="34" charset="0"/>
                <a:ea typeface="Calibri" pitchFamily="34" charset="-122"/>
                <a:cs typeface="Calibri" pitchFamily="34" charset="-120"/>
              </a:rPr>
              <a:t>Database</a:t>
            </a:r>
            <a:endParaRPr lang="en-US" sz="5000" dirty="0"/>
          </a:p>
        </p:txBody>
      </p:sp>
      <p:sp>
        <p:nvSpPr>
          <p:cNvPr id="10" name="Text 8"/>
          <p:cNvSpPr/>
          <p:nvPr/>
        </p:nvSpPr>
        <p:spPr>
          <a:xfrm>
            <a:off x="822960" y="4160520"/>
            <a:ext cx="6858000" cy="365760"/>
          </a:xfrm>
          <a:prstGeom prst="rect">
            <a:avLst/>
          </a:prstGeom>
          <a:noFill/>
          <a:ln/>
        </p:spPr>
        <p:txBody>
          <a:bodyPr wrap="square" rtlCol="0" anchor="ctr"/>
          <a:lstStyle/>
          <a:p>
            <a:pPr marL="0" indent="0">
              <a:buNone/>
            </a:pPr>
            <a:r>
              <a:rPr lang="en-US" sz="1500" dirty="0">
                <a:solidFill>
                  <a:srgbClr val="C7D2DE"/>
                </a:solidFill>
                <a:latin typeface="Calibri" pitchFamily="34" charset="0"/>
                <a:ea typeface="Calibri" pitchFamily="34" charset="-122"/>
                <a:cs typeface="Calibri" pitchFamily="34" charset="-120"/>
              </a:rPr>
              <a:t>Unit 1: Database Foundations</a:t>
            </a:r>
            <a:endParaRPr lang="en-US" sz="1500" dirty="0"/>
          </a:p>
        </p:txBody>
      </p:sp>
      <p:sp>
        <p:nvSpPr>
          <p:cNvPr id="11" name="Shape 9"/>
          <p:cNvSpPr/>
          <p:nvPr/>
        </p:nvSpPr>
        <p:spPr>
          <a:xfrm>
            <a:off x="822960" y="4709160"/>
            <a:ext cx="1280160" cy="0"/>
          </a:xfrm>
          <a:prstGeom prst="line">
            <a:avLst/>
          </a:prstGeom>
          <a:noFill/>
          <a:ln w="31750">
            <a:solidFill>
              <a:srgbClr val="2FD4C4"/>
            </a:solidFill>
            <a:prstDash val="solid"/>
          </a:ln>
        </p:spPr>
        <p:txBody>
          <a:bodyPr/>
          <a:lstStyle/>
          <a:p>
            <a:endParaRPr lang="en-PH"/>
          </a:p>
        </p:txBody>
      </p:sp>
      <p:sp>
        <p:nvSpPr>
          <p:cNvPr id="13" name="Shape 11"/>
          <p:cNvSpPr/>
          <p:nvPr/>
        </p:nvSpPr>
        <p:spPr>
          <a:xfrm>
            <a:off x="822960" y="5806440"/>
            <a:ext cx="1280160" cy="457200"/>
          </a:xfrm>
          <a:prstGeom prst="roundRect">
            <a:avLst>
              <a:gd name="adj" fmla="val 16000"/>
            </a:avLst>
          </a:prstGeom>
          <a:solidFill>
            <a:srgbClr val="16324F"/>
          </a:solidFill>
          <a:ln w="9525">
            <a:solidFill>
              <a:srgbClr val="2FD4C4"/>
            </a:solidFill>
            <a:prstDash val="solid"/>
          </a:ln>
        </p:spPr>
        <p:txBody>
          <a:bodyPr/>
          <a:lstStyle/>
          <a:p>
            <a:endParaRPr lang="en-PH"/>
          </a:p>
        </p:txBody>
      </p:sp>
      <p:sp>
        <p:nvSpPr>
          <p:cNvPr id="14" name="Text 12"/>
          <p:cNvSpPr/>
          <p:nvPr/>
        </p:nvSpPr>
        <p:spPr>
          <a:xfrm>
            <a:off x="822960" y="5806440"/>
            <a:ext cx="1280160" cy="457200"/>
          </a:xfrm>
          <a:prstGeom prst="rect">
            <a:avLst/>
          </a:prstGeom>
          <a:noFill/>
          <a:ln/>
        </p:spPr>
        <p:txBody>
          <a:bodyPr wrap="square" rtlCol="0" anchor="ctr"/>
          <a:lstStyle/>
          <a:p>
            <a:pPr marL="0" indent="0" algn="ctr">
              <a:buNone/>
            </a:pPr>
            <a:r>
              <a:rPr lang="en-US" sz="1000" b="1" dirty="0">
                <a:solidFill>
                  <a:srgbClr val="2FD4C4"/>
                </a:solidFill>
                <a:latin typeface="Calibri" pitchFamily="34" charset="0"/>
                <a:ea typeface="Calibri" pitchFamily="34" charset="-122"/>
                <a:cs typeface="Calibri" pitchFamily="34" charset="-120"/>
              </a:rPr>
              <a:t>DATA</a:t>
            </a:r>
            <a:endParaRPr lang="en-US" sz="1000" dirty="0"/>
          </a:p>
        </p:txBody>
      </p:sp>
      <p:sp>
        <p:nvSpPr>
          <p:cNvPr id="15" name="Shape 13"/>
          <p:cNvSpPr/>
          <p:nvPr/>
        </p:nvSpPr>
        <p:spPr>
          <a:xfrm>
            <a:off x="2240280" y="5806440"/>
            <a:ext cx="1280160" cy="457200"/>
          </a:xfrm>
          <a:prstGeom prst="roundRect">
            <a:avLst>
              <a:gd name="adj" fmla="val 16000"/>
            </a:avLst>
          </a:prstGeom>
          <a:solidFill>
            <a:srgbClr val="16324F"/>
          </a:solidFill>
          <a:ln w="9525">
            <a:solidFill>
              <a:srgbClr val="2FD4C4"/>
            </a:solidFill>
            <a:prstDash val="solid"/>
          </a:ln>
        </p:spPr>
        <p:txBody>
          <a:bodyPr/>
          <a:lstStyle/>
          <a:p>
            <a:endParaRPr lang="en-PH"/>
          </a:p>
        </p:txBody>
      </p:sp>
      <p:sp>
        <p:nvSpPr>
          <p:cNvPr id="16" name="Text 14"/>
          <p:cNvSpPr/>
          <p:nvPr/>
        </p:nvSpPr>
        <p:spPr>
          <a:xfrm>
            <a:off x="2240280" y="5806440"/>
            <a:ext cx="1280160" cy="457200"/>
          </a:xfrm>
          <a:prstGeom prst="rect">
            <a:avLst/>
          </a:prstGeom>
          <a:noFill/>
          <a:ln/>
        </p:spPr>
        <p:txBody>
          <a:bodyPr wrap="square" rtlCol="0" anchor="ctr"/>
          <a:lstStyle/>
          <a:p>
            <a:pPr marL="0" indent="0" algn="ctr">
              <a:buNone/>
            </a:pPr>
            <a:r>
              <a:rPr lang="en-US" sz="1000" b="1" dirty="0">
                <a:solidFill>
                  <a:srgbClr val="2FD4C4"/>
                </a:solidFill>
                <a:latin typeface="Calibri" pitchFamily="34" charset="0"/>
                <a:ea typeface="Calibri" pitchFamily="34" charset="-122"/>
                <a:cs typeface="Calibri" pitchFamily="34" charset="-120"/>
              </a:rPr>
              <a:t>INFORMATION</a:t>
            </a:r>
            <a:endParaRPr lang="en-US" sz="1000" dirty="0"/>
          </a:p>
        </p:txBody>
      </p:sp>
      <p:sp>
        <p:nvSpPr>
          <p:cNvPr id="17" name="Shape 15"/>
          <p:cNvSpPr/>
          <p:nvPr/>
        </p:nvSpPr>
        <p:spPr>
          <a:xfrm>
            <a:off x="3657600" y="5806440"/>
            <a:ext cx="1280160" cy="457200"/>
          </a:xfrm>
          <a:prstGeom prst="roundRect">
            <a:avLst>
              <a:gd name="adj" fmla="val 16000"/>
            </a:avLst>
          </a:prstGeom>
          <a:solidFill>
            <a:srgbClr val="16324F"/>
          </a:solidFill>
          <a:ln w="9525">
            <a:solidFill>
              <a:srgbClr val="2FD4C4"/>
            </a:solidFill>
            <a:prstDash val="solid"/>
          </a:ln>
        </p:spPr>
        <p:txBody>
          <a:bodyPr/>
          <a:lstStyle/>
          <a:p>
            <a:endParaRPr lang="en-PH"/>
          </a:p>
        </p:txBody>
      </p:sp>
      <p:sp>
        <p:nvSpPr>
          <p:cNvPr id="18" name="Text 16"/>
          <p:cNvSpPr/>
          <p:nvPr/>
        </p:nvSpPr>
        <p:spPr>
          <a:xfrm>
            <a:off x="3657600" y="5806440"/>
            <a:ext cx="1280160" cy="457200"/>
          </a:xfrm>
          <a:prstGeom prst="rect">
            <a:avLst/>
          </a:prstGeom>
          <a:noFill/>
          <a:ln/>
        </p:spPr>
        <p:txBody>
          <a:bodyPr wrap="square" rtlCol="0" anchor="ctr"/>
          <a:lstStyle/>
          <a:p>
            <a:pPr marL="0" indent="0" algn="ctr">
              <a:buNone/>
            </a:pPr>
            <a:r>
              <a:rPr lang="en-US" sz="1000" b="1" dirty="0">
                <a:solidFill>
                  <a:srgbClr val="2FD4C4"/>
                </a:solidFill>
                <a:latin typeface="Calibri" pitchFamily="34" charset="0"/>
                <a:ea typeface="Calibri" pitchFamily="34" charset="-122"/>
                <a:cs typeface="Calibri" pitchFamily="34" charset="-120"/>
              </a:rPr>
              <a:t>DATABASE</a:t>
            </a:r>
            <a:endParaRPr lang="en-US" sz="1000" dirty="0"/>
          </a:p>
        </p:txBody>
      </p:sp>
      <p:sp>
        <p:nvSpPr>
          <p:cNvPr id="19" name="Shape 17"/>
          <p:cNvSpPr/>
          <p:nvPr/>
        </p:nvSpPr>
        <p:spPr>
          <a:xfrm>
            <a:off x="5074920" y="5806440"/>
            <a:ext cx="1280160" cy="457200"/>
          </a:xfrm>
          <a:prstGeom prst="roundRect">
            <a:avLst>
              <a:gd name="adj" fmla="val 16000"/>
            </a:avLst>
          </a:prstGeom>
          <a:solidFill>
            <a:srgbClr val="16324F"/>
          </a:solidFill>
          <a:ln w="9525">
            <a:solidFill>
              <a:srgbClr val="2FD4C4"/>
            </a:solidFill>
            <a:prstDash val="solid"/>
          </a:ln>
        </p:spPr>
        <p:txBody>
          <a:bodyPr/>
          <a:lstStyle/>
          <a:p>
            <a:endParaRPr lang="en-PH"/>
          </a:p>
        </p:txBody>
      </p:sp>
      <p:sp>
        <p:nvSpPr>
          <p:cNvPr id="20" name="Text 18"/>
          <p:cNvSpPr/>
          <p:nvPr/>
        </p:nvSpPr>
        <p:spPr>
          <a:xfrm>
            <a:off x="5074920" y="5806440"/>
            <a:ext cx="1280160" cy="457200"/>
          </a:xfrm>
          <a:prstGeom prst="rect">
            <a:avLst/>
          </a:prstGeom>
          <a:noFill/>
          <a:ln/>
        </p:spPr>
        <p:txBody>
          <a:bodyPr wrap="square" rtlCol="0" anchor="ctr"/>
          <a:lstStyle/>
          <a:p>
            <a:pPr marL="0" indent="0" algn="ctr">
              <a:buNone/>
            </a:pPr>
            <a:r>
              <a:rPr lang="en-US" sz="1000" b="1" dirty="0">
                <a:solidFill>
                  <a:srgbClr val="2FD4C4"/>
                </a:solidFill>
                <a:latin typeface="Calibri" pitchFamily="34" charset="0"/>
                <a:ea typeface="Calibri" pitchFamily="34" charset="-122"/>
                <a:cs typeface="Calibri" pitchFamily="34" charset="-120"/>
              </a:rPr>
              <a:t>DBMS</a:t>
            </a:r>
            <a:endParaRPr lang="en-US" sz="1000" dirty="0"/>
          </a:p>
        </p:txBody>
      </p:sp>
      <p:sp>
        <p:nvSpPr>
          <p:cNvPr id="2" name="Shape 0"/>
          <p:cNvSpPr/>
          <p:nvPr/>
        </p:nvSpPr>
        <p:spPr>
          <a:xfrm rot="720000">
            <a:off x="7863840" y="-457200"/>
            <a:ext cx="502920" cy="7772400"/>
          </a:xfrm>
          <a:prstGeom prst="rect">
            <a:avLst/>
          </a:prstGeom>
          <a:solidFill>
            <a:srgbClr val="16324F">
              <a:alpha val="60000"/>
            </a:srgbClr>
          </a:solidFill>
          <a:ln/>
        </p:spPr>
        <p:txBody>
          <a:bodyPr/>
          <a:lstStyle/>
          <a:p>
            <a:endParaRPr lang="en-PH"/>
          </a:p>
        </p:txBody>
      </p:sp>
      <p:sp>
        <p:nvSpPr>
          <p:cNvPr id="3" name="Shape 1"/>
          <p:cNvSpPr/>
          <p:nvPr/>
        </p:nvSpPr>
        <p:spPr>
          <a:xfrm rot="720000">
            <a:off x="8732520" y="-457200"/>
            <a:ext cx="502920" cy="7772400"/>
          </a:xfrm>
          <a:prstGeom prst="rect">
            <a:avLst/>
          </a:prstGeom>
          <a:solidFill>
            <a:srgbClr val="16324F">
              <a:alpha val="60000"/>
            </a:srgbClr>
          </a:solidFill>
          <a:ln/>
        </p:spPr>
        <p:txBody>
          <a:bodyPr/>
          <a:lstStyle/>
          <a:p>
            <a:endParaRPr lang="en-PH"/>
          </a:p>
        </p:txBody>
      </p:sp>
      <p:sp>
        <p:nvSpPr>
          <p:cNvPr id="4" name="Shape 2"/>
          <p:cNvSpPr/>
          <p:nvPr/>
        </p:nvSpPr>
        <p:spPr>
          <a:xfrm rot="720000">
            <a:off x="9601200" y="-457200"/>
            <a:ext cx="502920" cy="7772400"/>
          </a:xfrm>
          <a:prstGeom prst="rect">
            <a:avLst/>
          </a:prstGeom>
          <a:solidFill>
            <a:srgbClr val="16324F">
              <a:alpha val="60000"/>
            </a:srgbClr>
          </a:solidFill>
          <a:ln/>
        </p:spPr>
        <p:txBody>
          <a:bodyPr/>
          <a:lstStyle/>
          <a:p>
            <a:endParaRPr lang="en-PH"/>
          </a:p>
        </p:txBody>
      </p:sp>
      <p:sp>
        <p:nvSpPr>
          <p:cNvPr id="5" name="Shape 3"/>
          <p:cNvSpPr/>
          <p:nvPr/>
        </p:nvSpPr>
        <p:spPr>
          <a:xfrm rot="720000">
            <a:off x="10469880" y="-457200"/>
            <a:ext cx="502920" cy="7772400"/>
          </a:xfrm>
          <a:prstGeom prst="rect">
            <a:avLst/>
          </a:prstGeom>
          <a:solidFill>
            <a:srgbClr val="16324F">
              <a:alpha val="60000"/>
            </a:srgbClr>
          </a:solidFill>
          <a:ln/>
        </p:spPr>
        <p:txBody>
          <a:bodyPr/>
          <a:lstStyle/>
          <a:p>
            <a:endParaRPr lang="en-PH"/>
          </a:p>
        </p:txBody>
      </p:sp>
      <p:sp>
        <p:nvSpPr>
          <p:cNvPr id="6" name="Shape 4"/>
          <p:cNvSpPr/>
          <p:nvPr/>
        </p:nvSpPr>
        <p:spPr>
          <a:xfrm rot="720000">
            <a:off x="11338560" y="-457200"/>
            <a:ext cx="502920" cy="7772400"/>
          </a:xfrm>
          <a:prstGeom prst="rect">
            <a:avLst/>
          </a:prstGeom>
          <a:solidFill>
            <a:srgbClr val="16324F">
              <a:alpha val="60000"/>
            </a:srgbClr>
          </a:solidFill>
          <a:ln/>
        </p:spPr>
        <p:txBody>
          <a:bodyPr/>
          <a:lstStyle/>
          <a:p>
            <a:endParaRPr lang="en-P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LEARNING OBJECTIVES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By the End of This Unit, You Can:</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sz="1700" dirty="0">
                <a:solidFill>
                  <a:srgbClr val="1B2733"/>
                </a:solidFill>
                <a:latin typeface="Calibri" pitchFamily="34" charset="0"/>
                <a:ea typeface="Calibri" pitchFamily="34" charset="-122"/>
                <a:cs typeface="Calibri" pitchFamily="34" charset="-120"/>
              </a:rPr>
              <a:t>Distinguish between data and information</a:t>
            </a:r>
            <a:endParaRPr lang="en-US" sz="1700" dirty="0"/>
          </a:p>
          <a:p>
            <a:pPr marL="342900" indent="-342900">
              <a:spcAft>
                <a:spcPts val="1200"/>
              </a:spcAft>
              <a:buSzPct val="100000"/>
              <a:buChar char="•"/>
            </a:pPr>
            <a:r>
              <a:rPr lang="en-US" sz="1700" dirty="0">
                <a:solidFill>
                  <a:srgbClr val="1B2733"/>
                </a:solidFill>
                <a:latin typeface="Calibri" pitchFamily="34" charset="0"/>
                <a:ea typeface="Calibri" pitchFamily="34" charset="-122"/>
                <a:cs typeface="Calibri" pitchFamily="34" charset="-120"/>
              </a:rPr>
              <a:t>Define what a database and a DBMS are</a:t>
            </a:r>
            <a:endParaRPr lang="en-US" sz="1700" dirty="0"/>
          </a:p>
          <a:p>
            <a:pPr marL="342900" indent="-342900">
              <a:spcAft>
                <a:spcPts val="1200"/>
              </a:spcAft>
              <a:buSzPct val="100000"/>
              <a:buChar char="•"/>
            </a:pPr>
            <a:r>
              <a:rPr lang="en-US" sz="1700" dirty="0">
                <a:solidFill>
                  <a:srgbClr val="1B2733"/>
                </a:solidFill>
                <a:latin typeface="Calibri" pitchFamily="34" charset="0"/>
                <a:ea typeface="Calibri" pitchFamily="34" charset="-122"/>
                <a:cs typeface="Calibri" pitchFamily="34" charset="-120"/>
              </a:rPr>
              <a:t>Explain why databases matter in real-world systems</a:t>
            </a:r>
            <a:endParaRPr lang="en-US" sz="1700" dirty="0"/>
          </a:p>
          <a:p>
            <a:pPr marL="342900" indent="-342900">
              <a:spcAft>
                <a:spcPts val="1200"/>
              </a:spcAft>
              <a:buSzPct val="100000"/>
              <a:buChar char="•"/>
            </a:pPr>
            <a:r>
              <a:rPr lang="en-US" sz="1700" dirty="0">
                <a:solidFill>
                  <a:srgbClr val="1B2733"/>
                </a:solidFill>
                <a:latin typeface="Calibri" pitchFamily="34" charset="0"/>
                <a:ea typeface="Calibri" pitchFamily="34" charset="-122"/>
                <a:cs typeface="Calibri" pitchFamily="34" charset="-120"/>
              </a:rPr>
              <a:t>Compare file-based systems with database systems</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5">
            <a:extLst>
              <a:ext uri="{FF2B5EF4-FFF2-40B4-BE49-F238E27FC236}">
                <a16:creationId xmlns:a16="http://schemas.microsoft.com/office/drawing/2014/main" id="{704AF07A-F79F-D7A8-F6A0-F17740F7D52A}"/>
              </a:ext>
            </a:extLst>
          </p:cNvPr>
          <p:cNvSpPr/>
          <p:nvPr/>
        </p:nvSpPr>
        <p:spPr>
          <a:xfrm>
            <a:off x="0" y="0"/>
            <a:ext cx="12192000" cy="6858000"/>
          </a:xfrm>
          <a:prstGeom prst="rect">
            <a:avLst/>
          </a:prstGeom>
          <a:solidFill>
            <a:srgbClr val="0F1B2D"/>
          </a:solidFill>
          <a:ln/>
        </p:spPr>
        <p:txBody>
          <a:bodyPr/>
          <a:lstStyle/>
          <a:p>
            <a:endParaRPr lang="en-PH"/>
          </a:p>
        </p:txBody>
      </p:sp>
      <p:sp>
        <p:nvSpPr>
          <p:cNvPr id="2" name="Text 0"/>
          <p:cNvSpPr/>
          <p:nvPr/>
        </p:nvSpPr>
        <p:spPr>
          <a:xfrm>
            <a:off x="822960" y="822960"/>
            <a:ext cx="7315200" cy="457200"/>
          </a:xfrm>
          <a:prstGeom prst="rect">
            <a:avLst/>
          </a:prstGeom>
          <a:noFill/>
          <a:ln/>
        </p:spPr>
        <p:txBody>
          <a:bodyPr wrap="square" rtlCol="0" anchor="ctr"/>
          <a:lstStyle/>
          <a:p>
            <a:pPr marL="0" indent="0">
              <a:buNone/>
            </a:pPr>
            <a:r>
              <a:rPr lang="en-US" sz="1500" dirty="0">
                <a:solidFill>
                  <a:srgbClr val="AEBDCC"/>
                </a:solidFill>
                <a:latin typeface="Calibri" pitchFamily="34" charset="0"/>
                <a:ea typeface="Calibri" pitchFamily="34" charset="-122"/>
                <a:cs typeface="Calibri" pitchFamily="34" charset="-120"/>
              </a:rPr>
              <a:t>Look at these four pieces:</a:t>
            </a:r>
            <a:endParaRPr lang="en-US" sz="1500" dirty="0"/>
          </a:p>
        </p:txBody>
      </p:sp>
      <p:sp>
        <p:nvSpPr>
          <p:cNvPr id="3" name="Shape 1"/>
          <p:cNvSpPr/>
          <p:nvPr/>
        </p:nvSpPr>
        <p:spPr>
          <a:xfrm>
            <a:off x="822960" y="1554480"/>
            <a:ext cx="2286000" cy="1554480"/>
          </a:xfrm>
          <a:prstGeom prst="roundRect">
            <a:avLst>
              <a:gd name="adj" fmla="val 5882"/>
            </a:avLst>
          </a:prstGeom>
          <a:solidFill>
            <a:srgbClr val="16324F"/>
          </a:solidFill>
          <a:ln w="19050">
            <a:solidFill>
              <a:srgbClr val="2FD4C4"/>
            </a:solidFill>
            <a:prstDash val="solid"/>
          </a:ln>
        </p:spPr>
        <p:txBody>
          <a:bodyPr/>
          <a:lstStyle/>
          <a:p>
            <a:endParaRPr lang="en-PH"/>
          </a:p>
        </p:txBody>
      </p:sp>
      <p:sp>
        <p:nvSpPr>
          <p:cNvPr id="4" name="Text 2"/>
          <p:cNvSpPr/>
          <p:nvPr/>
        </p:nvSpPr>
        <p:spPr>
          <a:xfrm>
            <a:off x="822960" y="1554480"/>
            <a:ext cx="2286000" cy="1554480"/>
          </a:xfrm>
          <a:prstGeom prst="rect">
            <a:avLst/>
          </a:prstGeom>
          <a:noFill/>
          <a:ln/>
        </p:spPr>
        <p:txBody>
          <a:bodyPr wrap="square" rtlCol="0" anchor="ctr"/>
          <a:lstStyle/>
          <a:p>
            <a:pPr marL="0" indent="0" algn="ctr">
              <a:buNone/>
            </a:pPr>
            <a:r>
              <a:rPr lang="en-US" sz="3000" b="1" dirty="0">
                <a:solidFill>
                  <a:srgbClr val="2FD4C4"/>
                </a:solidFill>
                <a:latin typeface="Calibri" pitchFamily="34" charset="0"/>
                <a:ea typeface="Calibri" pitchFamily="34" charset="-122"/>
                <a:cs typeface="Calibri" pitchFamily="34" charset="-120"/>
              </a:rPr>
              <a:t>18</a:t>
            </a:r>
            <a:endParaRPr lang="en-US" sz="3000" dirty="0"/>
          </a:p>
        </p:txBody>
      </p:sp>
      <p:sp>
        <p:nvSpPr>
          <p:cNvPr id="5" name="Shape 3"/>
          <p:cNvSpPr/>
          <p:nvPr/>
        </p:nvSpPr>
        <p:spPr>
          <a:xfrm>
            <a:off x="3429000" y="1554480"/>
            <a:ext cx="2286000" cy="1554480"/>
          </a:xfrm>
          <a:prstGeom prst="roundRect">
            <a:avLst>
              <a:gd name="adj" fmla="val 5882"/>
            </a:avLst>
          </a:prstGeom>
          <a:solidFill>
            <a:srgbClr val="16324F"/>
          </a:solidFill>
          <a:ln w="19050">
            <a:solidFill>
              <a:srgbClr val="F2A93B"/>
            </a:solidFill>
            <a:prstDash val="solid"/>
          </a:ln>
        </p:spPr>
        <p:txBody>
          <a:bodyPr/>
          <a:lstStyle/>
          <a:p>
            <a:endParaRPr lang="en-PH"/>
          </a:p>
        </p:txBody>
      </p:sp>
      <p:sp>
        <p:nvSpPr>
          <p:cNvPr id="6" name="Text 4"/>
          <p:cNvSpPr/>
          <p:nvPr/>
        </p:nvSpPr>
        <p:spPr>
          <a:xfrm>
            <a:off x="3429000" y="1554480"/>
            <a:ext cx="2286000" cy="1554480"/>
          </a:xfrm>
          <a:prstGeom prst="rect">
            <a:avLst/>
          </a:prstGeom>
          <a:noFill/>
          <a:ln/>
        </p:spPr>
        <p:txBody>
          <a:bodyPr wrap="square" rtlCol="0" anchor="ctr"/>
          <a:lstStyle/>
          <a:p>
            <a:pPr marL="0" indent="0" algn="ctr">
              <a:buNone/>
            </a:pPr>
            <a:r>
              <a:rPr lang="en-US" sz="3000" b="1" dirty="0">
                <a:solidFill>
                  <a:srgbClr val="F2A93B"/>
                </a:solidFill>
                <a:latin typeface="Calibri" pitchFamily="34" charset="0"/>
                <a:ea typeface="Calibri" pitchFamily="34" charset="-122"/>
                <a:cs typeface="Calibri" pitchFamily="34" charset="-120"/>
              </a:rPr>
              <a:t>Male</a:t>
            </a:r>
            <a:endParaRPr lang="en-US" sz="3000" dirty="0"/>
          </a:p>
        </p:txBody>
      </p:sp>
      <p:sp>
        <p:nvSpPr>
          <p:cNvPr id="7" name="Shape 5"/>
          <p:cNvSpPr/>
          <p:nvPr/>
        </p:nvSpPr>
        <p:spPr>
          <a:xfrm>
            <a:off x="6035040" y="1554480"/>
            <a:ext cx="2286000" cy="1554480"/>
          </a:xfrm>
          <a:prstGeom prst="roundRect">
            <a:avLst>
              <a:gd name="adj" fmla="val 5882"/>
            </a:avLst>
          </a:prstGeom>
          <a:solidFill>
            <a:srgbClr val="16324F"/>
          </a:solidFill>
          <a:ln w="19050">
            <a:solidFill>
              <a:srgbClr val="E8674F"/>
            </a:solidFill>
            <a:prstDash val="solid"/>
          </a:ln>
        </p:spPr>
        <p:txBody>
          <a:bodyPr/>
          <a:lstStyle/>
          <a:p>
            <a:endParaRPr lang="en-PH"/>
          </a:p>
        </p:txBody>
      </p:sp>
      <p:sp>
        <p:nvSpPr>
          <p:cNvPr id="8" name="Text 6"/>
          <p:cNvSpPr/>
          <p:nvPr/>
        </p:nvSpPr>
        <p:spPr>
          <a:xfrm>
            <a:off x="6035040" y="1554480"/>
            <a:ext cx="2286000" cy="1554480"/>
          </a:xfrm>
          <a:prstGeom prst="rect">
            <a:avLst/>
          </a:prstGeom>
          <a:noFill/>
          <a:ln/>
        </p:spPr>
        <p:txBody>
          <a:bodyPr wrap="square" rtlCol="0" anchor="ctr"/>
          <a:lstStyle/>
          <a:p>
            <a:pPr marL="0" indent="0" algn="ctr">
              <a:buNone/>
            </a:pPr>
            <a:r>
              <a:rPr lang="en-US" sz="3000" b="1" dirty="0">
                <a:solidFill>
                  <a:srgbClr val="E8674F"/>
                </a:solidFill>
                <a:latin typeface="Calibri" pitchFamily="34" charset="0"/>
                <a:ea typeface="Calibri" pitchFamily="34" charset="-122"/>
                <a:cs typeface="Calibri" pitchFamily="34" charset="-120"/>
              </a:rPr>
              <a:t>John</a:t>
            </a:r>
            <a:endParaRPr lang="en-US" sz="3000" dirty="0"/>
          </a:p>
        </p:txBody>
      </p:sp>
      <p:sp>
        <p:nvSpPr>
          <p:cNvPr id="9" name="Shape 7"/>
          <p:cNvSpPr/>
          <p:nvPr/>
        </p:nvSpPr>
        <p:spPr>
          <a:xfrm>
            <a:off x="8641080" y="1554480"/>
            <a:ext cx="2286000" cy="1554480"/>
          </a:xfrm>
          <a:prstGeom prst="roundRect">
            <a:avLst>
              <a:gd name="adj" fmla="val 5882"/>
            </a:avLst>
          </a:prstGeom>
          <a:solidFill>
            <a:srgbClr val="16324F"/>
          </a:solidFill>
          <a:ln w="19050">
            <a:solidFill>
              <a:srgbClr val="8B7CF6"/>
            </a:solidFill>
            <a:prstDash val="solid"/>
          </a:ln>
        </p:spPr>
        <p:txBody>
          <a:bodyPr/>
          <a:lstStyle/>
          <a:p>
            <a:endParaRPr lang="en-PH"/>
          </a:p>
        </p:txBody>
      </p:sp>
      <p:sp>
        <p:nvSpPr>
          <p:cNvPr id="10" name="Text 8"/>
          <p:cNvSpPr/>
          <p:nvPr/>
        </p:nvSpPr>
        <p:spPr>
          <a:xfrm>
            <a:off x="8641080" y="1554480"/>
            <a:ext cx="2286000" cy="1554480"/>
          </a:xfrm>
          <a:prstGeom prst="rect">
            <a:avLst/>
          </a:prstGeom>
          <a:noFill/>
          <a:ln/>
        </p:spPr>
        <p:txBody>
          <a:bodyPr wrap="square" rtlCol="0" anchor="ctr"/>
          <a:lstStyle/>
          <a:p>
            <a:pPr marL="0" indent="0" algn="ctr">
              <a:buNone/>
            </a:pPr>
            <a:r>
              <a:rPr lang="en-US" sz="3000" b="1" dirty="0">
                <a:solidFill>
                  <a:srgbClr val="8B7CF6"/>
                </a:solidFill>
                <a:latin typeface="Calibri" pitchFamily="34" charset="0"/>
                <a:ea typeface="Calibri" pitchFamily="34" charset="-122"/>
                <a:cs typeface="Calibri" pitchFamily="34" charset="-120"/>
              </a:rPr>
              <a:t>BSIT</a:t>
            </a:r>
            <a:endParaRPr lang="en-US" sz="3000" dirty="0"/>
          </a:p>
        </p:txBody>
      </p:sp>
      <p:sp>
        <p:nvSpPr>
          <p:cNvPr id="12" name="Text 10"/>
          <p:cNvSpPr/>
          <p:nvPr/>
        </p:nvSpPr>
        <p:spPr>
          <a:xfrm>
            <a:off x="822960" y="5120640"/>
            <a:ext cx="5486400" cy="365760"/>
          </a:xfrm>
          <a:prstGeom prst="rect">
            <a:avLst/>
          </a:prstGeom>
          <a:noFill/>
          <a:ln/>
        </p:spPr>
        <p:txBody>
          <a:bodyPr wrap="square" rtlCol="0" anchor="ctr"/>
          <a:lstStyle/>
          <a:p>
            <a:pPr marL="0" indent="0">
              <a:buNone/>
            </a:pPr>
            <a:r>
              <a:rPr lang="en-US" sz="1200" b="1" dirty="0">
                <a:solidFill>
                  <a:srgbClr val="2FD4C4"/>
                </a:solidFill>
                <a:latin typeface="Calibri" pitchFamily="34" charset="0"/>
                <a:ea typeface="Calibri" pitchFamily="34" charset="-122"/>
                <a:cs typeface="Calibri" pitchFamily="34" charset="-120"/>
              </a:rPr>
              <a:t>This is where our unit begins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What Is Data?</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Definition</a:t>
            </a:r>
            <a:endParaRPr lang="en-US" sz="1700" dirty="0"/>
          </a:p>
        </p:txBody>
      </p:sp>
      <p:sp>
        <p:nvSpPr>
          <p:cNvPr id="8" name="Text 6"/>
          <p:cNvSpPr/>
          <p:nvPr/>
        </p:nvSpPr>
        <p:spPr>
          <a:xfrm>
            <a:off x="914400" y="2651760"/>
            <a:ext cx="4640580" cy="3520440"/>
          </a:xfrm>
          <a:prstGeom prst="rect">
            <a:avLst/>
          </a:prstGeom>
          <a:noFill/>
          <a:ln/>
        </p:spPr>
        <p:txBody>
          <a:bodyPr wrap="square" rtlCol="0" anchor="t"/>
          <a:lstStyle/>
          <a:p>
            <a:pPr marL="0" indent="0">
              <a:lnSpc>
                <a:spcPct val="118000"/>
              </a:lnSpc>
              <a:buNone/>
            </a:pPr>
            <a:r>
              <a:rPr lang="en-US" sz="2000" dirty="0">
                <a:solidFill>
                  <a:srgbClr val="1B2733"/>
                </a:solidFill>
                <a:latin typeface="Calibri" pitchFamily="34" charset="0"/>
                <a:ea typeface="Calibri" pitchFamily="34" charset="-122"/>
                <a:cs typeface="Calibri" pitchFamily="34" charset="-120"/>
              </a:rPr>
              <a:t>Data is a raw, unorganized fact that must be processed to become meaningful. Data are individual units of information; in analytical processes, they're represented by variables. Data contains numbers, statements, and characters in raw form.</a:t>
            </a:r>
            <a:endParaRPr lang="en-US" sz="2000" dirty="0"/>
          </a:p>
        </p:txBody>
      </p:sp>
      <p:sp>
        <p:nvSpPr>
          <p:cNvPr id="9" name="Shape 7"/>
          <p:cNvSpPr/>
          <p:nvPr/>
        </p:nvSpPr>
        <p:spPr>
          <a:xfrm>
            <a:off x="61950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6515100" y="2011680"/>
            <a:ext cx="384048" cy="54864"/>
          </a:xfrm>
          <a:prstGeom prst="rect">
            <a:avLst/>
          </a:prstGeom>
          <a:solidFill>
            <a:srgbClr val="2FD4C4"/>
          </a:solidFill>
          <a:ln/>
        </p:spPr>
        <p:txBody>
          <a:bodyPr/>
          <a:lstStyle/>
          <a:p>
            <a:endParaRPr lang="en-PH"/>
          </a:p>
        </p:txBody>
      </p:sp>
      <p:sp>
        <p:nvSpPr>
          <p:cNvPr id="11" name="Text 9"/>
          <p:cNvSpPr/>
          <p:nvPr/>
        </p:nvSpPr>
        <p:spPr>
          <a:xfrm>
            <a:off x="65151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Example</a:t>
            </a:r>
            <a:endParaRPr lang="en-US" sz="1700" dirty="0"/>
          </a:p>
        </p:txBody>
      </p:sp>
      <p:sp>
        <p:nvSpPr>
          <p:cNvPr id="12" name="Text 10"/>
          <p:cNvSpPr/>
          <p:nvPr/>
        </p:nvSpPr>
        <p:spPr>
          <a:xfrm>
            <a:off x="6515100" y="2651760"/>
            <a:ext cx="46405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John          18          BSIT          Male </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On their own, these values carry no context — they're just isolated facts waiting to be organized.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What Is Information?</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Definition</a:t>
            </a:r>
            <a:endParaRPr lang="en-US" sz="1700" dirty="0"/>
          </a:p>
        </p:txBody>
      </p:sp>
      <p:sp>
        <p:nvSpPr>
          <p:cNvPr id="8" name="Text 6"/>
          <p:cNvSpPr/>
          <p:nvPr/>
        </p:nvSpPr>
        <p:spPr>
          <a:xfrm>
            <a:off x="914400" y="2651760"/>
            <a:ext cx="4640580" cy="3520440"/>
          </a:xfrm>
          <a:prstGeom prst="rect">
            <a:avLst/>
          </a:prstGeom>
          <a:noFill/>
          <a:ln/>
        </p:spPr>
        <p:txBody>
          <a:bodyPr wrap="square" rtlCol="0" anchor="t"/>
          <a:lstStyle/>
          <a:p>
            <a:pPr marL="0" indent="0">
              <a:lnSpc>
                <a:spcPct val="118000"/>
              </a:lnSpc>
              <a:buNone/>
            </a:pPr>
            <a:r>
              <a:rPr lang="en-US" sz="2000" dirty="0">
                <a:solidFill>
                  <a:srgbClr val="1B2733"/>
                </a:solidFill>
                <a:latin typeface="Calibri" pitchFamily="34" charset="0"/>
                <a:ea typeface="Calibri" pitchFamily="34" charset="-122"/>
                <a:cs typeface="Calibri" pitchFamily="34" charset="-120"/>
              </a:rPr>
              <a:t>Information is data that has been processed, organized, or structured so it becomes meaningful and useful for decision-making. It answers questions like who, what, when, and how much — data presented within a context that makes it relevant to the person who needs it.</a:t>
            </a:r>
            <a:endParaRPr lang="en-US" sz="2000" dirty="0"/>
          </a:p>
        </p:txBody>
      </p:sp>
      <p:sp>
        <p:nvSpPr>
          <p:cNvPr id="9" name="Shape 7"/>
          <p:cNvSpPr/>
          <p:nvPr/>
        </p:nvSpPr>
        <p:spPr>
          <a:xfrm>
            <a:off x="61950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6515100" y="2011680"/>
            <a:ext cx="384048" cy="54864"/>
          </a:xfrm>
          <a:prstGeom prst="rect">
            <a:avLst/>
          </a:prstGeom>
          <a:solidFill>
            <a:srgbClr val="2FD4C4"/>
          </a:solidFill>
          <a:ln/>
        </p:spPr>
        <p:txBody>
          <a:bodyPr/>
          <a:lstStyle/>
          <a:p>
            <a:endParaRPr lang="en-PH"/>
          </a:p>
        </p:txBody>
      </p:sp>
      <p:sp>
        <p:nvSpPr>
          <p:cNvPr id="11" name="Text 9"/>
          <p:cNvSpPr/>
          <p:nvPr/>
        </p:nvSpPr>
        <p:spPr>
          <a:xfrm>
            <a:off x="65151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Example</a:t>
            </a:r>
            <a:endParaRPr lang="en-US" sz="1700" dirty="0"/>
          </a:p>
        </p:txBody>
      </p:sp>
      <p:sp>
        <p:nvSpPr>
          <p:cNvPr id="12" name="Text 10"/>
          <p:cNvSpPr/>
          <p:nvPr/>
        </p:nvSpPr>
        <p:spPr>
          <a:xfrm>
            <a:off x="6515100" y="2651760"/>
            <a:ext cx="4640580" cy="3520440"/>
          </a:xfrm>
          <a:prstGeom prst="rect">
            <a:avLst/>
          </a:prstGeom>
          <a:noFill/>
          <a:ln/>
        </p:spPr>
        <p:txBody>
          <a:bodyPr wrap="square" rtlCol="0" anchor="t"/>
          <a:lstStyle/>
          <a:p>
            <a:pPr marL="0" indent="0">
              <a:lnSpc>
                <a:spcPct val="118000"/>
              </a:lnSpc>
              <a:buNone/>
            </a:pPr>
            <a:r>
              <a:rPr lang="en-US" sz="1150" dirty="0">
                <a:solidFill>
                  <a:srgbClr val="1B2733"/>
                </a:solidFill>
                <a:latin typeface="Calibri" pitchFamily="34" charset="0"/>
                <a:ea typeface="Calibri" pitchFamily="34" charset="-122"/>
                <a:cs typeface="Calibri" pitchFamily="34" charset="-120"/>
              </a:rPr>
              <a:t>"</a:t>
            </a:r>
            <a:r>
              <a:rPr lang="en-US" sz="1600" dirty="0">
                <a:solidFill>
                  <a:srgbClr val="1B2733"/>
                </a:solidFill>
                <a:latin typeface="Calibri" pitchFamily="34" charset="0"/>
                <a:ea typeface="Calibri" pitchFamily="34" charset="-122"/>
                <a:cs typeface="Calibri" pitchFamily="34" charset="-120"/>
              </a:rPr>
              <a:t>John, age 18, sex Male, is a BSIT student."</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The same raw values now tell a complete, usable story.</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animEffect transition="in" filter="fade">
                                      <p:cBhvr>
                                        <p:cTn id="21"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QUICK CHECK</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Try It Yourself</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00200"/>
            <a:ext cx="10515600" cy="457200"/>
          </a:xfrm>
          <a:prstGeom prst="rect">
            <a:avLst/>
          </a:prstGeom>
          <a:noFill/>
          <a:ln/>
        </p:spPr>
        <p:txBody>
          <a:bodyPr wrap="square"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For each item below, decide: is it DATA or INFORMATION?</a:t>
            </a:r>
            <a:endParaRPr lang="en-US" sz="1400" dirty="0"/>
          </a:p>
        </p:txBody>
      </p:sp>
      <p:sp>
        <p:nvSpPr>
          <p:cNvPr id="6" name="Shape 4"/>
          <p:cNvSpPr/>
          <p:nvPr/>
        </p:nvSpPr>
        <p:spPr>
          <a:xfrm>
            <a:off x="594360" y="2286000"/>
            <a:ext cx="10881360" cy="960120"/>
          </a:xfrm>
          <a:prstGeom prst="roundRect">
            <a:avLst>
              <a:gd name="adj" fmla="val 9524"/>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7" name="Text 5"/>
          <p:cNvSpPr/>
          <p:nvPr/>
        </p:nvSpPr>
        <p:spPr>
          <a:xfrm>
            <a:off x="914400" y="2286000"/>
            <a:ext cx="7772400" cy="960120"/>
          </a:xfrm>
          <a:prstGeom prst="rect">
            <a:avLst/>
          </a:prstGeom>
          <a:noFill/>
          <a:ln/>
        </p:spPr>
        <p:txBody>
          <a:bodyPr wrap="square" rtlCol="0" anchor="ctr"/>
          <a:lstStyle/>
          <a:p>
            <a:pPr marL="0" indent="0">
              <a:buNone/>
            </a:pPr>
            <a:r>
              <a:rPr lang="en-US" sz="1500" dirty="0">
                <a:solidFill>
                  <a:srgbClr val="1B2733"/>
                </a:solidFill>
                <a:latin typeface="Calibri" pitchFamily="34" charset="0"/>
                <a:ea typeface="Calibri" pitchFamily="34" charset="-122"/>
                <a:cs typeface="Calibri" pitchFamily="34" charset="-120"/>
              </a:rPr>
              <a:t>95, "Math", "Maria Santos"</a:t>
            </a:r>
            <a:endParaRPr lang="en-US" sz="1500" dirty="0"/>
          </a:p>
        </p:txBody>
      </p:sp>
      <p:sp>
        <p:nvSpPr>
          <p:cNvPr id="8" name="Text 6"/>
          <p:cNvSpPr/>
          <p:nvPr/>
        </p:nvSpPr>
        <p:spPr>
          <a:xfrm>
            <a:off x="8778240" y="2286000"/>
            <a:ext cx="2468880" cy="960120"/>
          </a:xfrm>
          <a:prstGeom prst="rect">
            <a:avLst/>
          </a:prstGeom>
          <a:noFill/>
          <a:ln/>
        </p:spPr>
        <p:txBody>
          <a:bodyPr wrap="square" rtlCol="0" anchor="ctr"/>
          <a:lstStyle/>
          <a:p>
            <a:pPr marL="0" indent="0" algn="r">
              <a:buNone/>
            </a:pPr>
            <a:r>
              <a:rPr lang="en-US" sz="1100" b="1" i="1" dirty="0">
                <a:solidFill>
                  <a:srgbClr val="F2A93B"/>
                </a:solidFill>
                <a:latin typeface="Calibri" pitchFamily="34" charset="0"/>
                <a:ea typeface="Calibri" pitchFamily="34" charset="-122"/>
                <a:cs typeface="Calibri" pitchFamily="34" charset="-120"/>
              </a:rPr>
              <a:t>DATA  or  INFORMATION?</a:t>
            </a:r>
            <a:endParaRPr lang="en-US" sz="1100" dirty="0"/>
          </a:p>
        </p:txBody>
      </p:sp>
      <p:sp>
        <p:nvSpPr>
          <p:cNvPr id="9" name="Shape 7"/>
          <p:cNvSpPr/>
          <p:nvPr/>
        </p:nvSpPr>
        <p:spPr>
          <a:xfrm>
            <a:off x="594360" y="3429000"/>
            <a:ext cx="10881360" cy="960120"/>
          </a:xfrm>
          <a:prstGeom prst="roundRect">
            <a:avLst>
              <a:gd name="adj" fmla="val 9524"/>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0" name="Text 8"/>
          <p:cNvSpPr/>
          <p:nvPr/>
        </p:nvSpPr>
        <p:spPr>
          <a:xfrm>
            <a:off x="914400" y="3429000"/>
            <a:ext cx="7772400" cy="960120"/>
          </a:xfrm>
          <a:prstGeom prst="rect">
            <a:avLst/>
          </a:prstGeom>
          <a:noFill/>
          <a:ln/>
        </p:spPr>
        <p:txBody>
          <a:bodyPr wrap="square" rtlCol="0" anchor="ctr"/>
          <a:lstStyle/>
          <a:p>
            <a:pPr marL="0" indent="0">
              <a:buNone/>
            </a:pPr>
            <a:r>
              <a:rPr lang="en-US" sz="1500" dirty="0">
                <a:solidFill>
                  <a:srgbClr val="1B2733"/>
                </a:solidFill>
                <a:latin typeface="Calibri" pitchFamily="34" charset="0"/>
                <a:ea typeface="Calibri" pitchFamily="34" charset="-122"/>
                <a:cs typeface="Calibri" pitchFamily="34" charset="-120"/>
              </a:rPr>
              <a:t>Carol is a 20-year-old BSIT student</a:t>
            </a:r>
            <a:endParaRPr lang="en-US" sz="1500" dirty="0"/>
          </a:p>
        </p:txBody>
      </p:sp>
      <p:sp>
        <p:nvSpPr>
          <p:cNvPr id="11" name="Text 9"/>
          <p:cNvSpPr/>
          <p:nvPr/>
        </p:nvSpPr>
        <p:spPr>
          <a:xfrm>
            <a:off x="8778240" y="3429000"/>
            <a:ext cx="2468880" cy="960120"/>
          </a:xfrm>
          <a:prstGeom prst="rect">
            <a:avLst/>
          </a:prstGeom>
          <a:noFill/>
          <a:ln/>
        </p:spPr>
        <p:txBody>
          <a:bodyPr wrap="square" rtlCol="0" anchor="ctr"/>
          <a:lstStyle/>
          <a:p>
            <a:pPr marL="0" indent="0" algn="r">
              <a:buNone/>
            </a:pPr>
            <a:r>
              <a:rPr lang="en-US" sz="1100" b="1" i="1" dirty="0">
                <a:solidFill>
                  <a:srgbClr val="F2A93B"/>
                </a:solidFill>
                <a:latin typeface="Calibri" pitchFamily="34" charset="0"/>
                <a:ea typeface="Calibri" pitchFamily="34" charset="-122"/>
                <a:cs typeface="Calibri" pitchFamily="34" charset="-120"/>
              </a:rPr>
              <a:t>DATA  or  INFORMATION?</a:t>
            </a:r>
            <a:endParaRPr lang="en-US" sz="1100" dirty="0"/>
          </a:p>
        </p:txBody>
      </p:sp>
      <p:sp>
        <p:nvSpPr>
          <p:cNvPr id="12" name="Shape 10"/>
          <p:cNvSpPr/>
          <p:nvPr/>
        </p:nvSpPr>
        <p:spPr>
          <a:xfrm>
            <a:off x="594360" y="4663440"/>
            <a:ext cx="10881360" cy="960120"/>
          </a:xfrm>
          <a:prstGeom prst="roundRect">
            <a:avLst>
              <a:gd name="adj" fmla="val 9524"/>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3" name="Text 11"/>
          <p:cNvSpPr/>
          <p:nvPr/>
        </p:nvSpPr>
        <p:spPr>
          <a:xfrm>
            <a:off x="914400" y="4663440"/>
            <a:ext cx="7772400" cy="960120"/>
          </a:xfrm>
          <a:prstGeom prst="rect">
            <a:avLst/>
          </a:prstGeom>
          <a:noFill/>
          <a:ln/>
        </p:spPr>
        <p:txBody>
          <a:bodyPr wrap="square" rtlCol="0" anchor="ctr"/>
          <a:lstStyle/>
          <a:p>
            <a:pPr marL="0" indent="0">
              <a:buNone/>
            </a:pPr>
            <a:r>
              <a:rPr lang="en-US" sz="1500" dirty="0">
                <a:solidFill>
                  <a:srgbClr val="1B2733"/>
                </a:solidFill>
                <a:latin typeface="Calibri" pitchFamily="34" charset="0"/>
                <a:ea typeface="Calibri" pitchFamily="34" charset="-122"/>
                <a:cs typeface="Calibri" pitchFamily="34" charset="-120"/>
              </a:rPr>
              <a:t>36°, “Jose"</a:t>
            </a:r>
            <a:endParaRPr lang="en-US" sz="1500" dirty="0"/>
          </a:p>
        </p:txBody>
      </p:sp>
      <p:sp>
        <p:nvSpPr>
          <p:cNvPr id="14" name="Text 12"/>
          <p:cNvSpPr/>
          <p:nvPr/>
        </p:nvSpPr>
        <p:spPr>
          <a:xfrm>
            <a:off x="8778240" y="4663440"/>
            <a:ext cx="2468880" cy="960120"/>
          </a:xfrm>
          <a:prstGeom prst="rect">
            <a:avLst/>
          </a:prstGeom>
          <a:noFill/>
          <a:ln/>
        </p:spPr>
        <p:txBody>
          <a:bodyPr wrap="square" rtlCol="0" anchor="ctr"/>
          <a:lstStyle/>
          <a:p>
            <a:pPr marL="0" indent="0" algn="r">
              <a:buNone/>
            </a:pPr>
            <a:r>
              <a:rPr lang="en-US" sz="1100" b="1" i="1" dirty="0">
                <a:solidFill>
                  <a:srgbClr val="F2A93B"/>
                </a:solidFill>
                <a:latin typeface="Calibri" pitchFamily="34" charset="0"/>
                <a:ea typeface="Calibri" pitchFamily="34" charset="-122"/>
                <a:cs typeface="Calibri" pitchFamily="34" charset="-120"/>
              </a:rPr>
              <a:t>DATA  or  INFORMATION?</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Data vs. Information</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graphicFrame>
        <p:nvGraphicFramePr>
          <p:cNvPr id="21" name="Table 0"/>
          <p:cNvGraphicFramePr>
            <a:graphicFrameLocks noGrp="1"/>
          </p:cNvGraphicFramePr>
          <p:nvPr/>
        </p:nvGraphicFramePr>
        <p:xfrm>
          <a:off x="594360" y="1737360"/>
          <a:ext cx="10881360" cy="4389120"/>
        </p:xfrm>
        <a:graphic>
          <a:graphicData uri="http://schemas.openxmlformats.org/drawingml/2006/table">
            <a:tbl>
              <a:tblPr/>
              <a:tblGrid>
                <a:gridCol w="164592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548640">
                <a:tc>
                  <a:txBody>
                    <a:bodyPr/>
                    <a:lstStyle/>
                    <a:p>
                      <a:pPr marL="0" indent="0" algn="ctr">
                        <a:buNone/>
                      </a:pP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INFORMATION</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1371600">
                <a:tc>
                  <a:txBody>
                    <a:bodyPr/>
                    <a:lstStyle/>
                    <a:p>
                      <a:pPr marL="0" indent="0" algn="l">
                        <a:buNone/>
                      </a:pPr>
                      <a:r>
                        <a:rPr lang="en-US" sz="1400" b="1" dirty="0">
                          <a:solidFill>
                            <a:srgbClr val="0F1B2D"/>
                          </a:solidFill>
                          <a:latin typeface="Calibri" pitchFamily="34" charset="0"/>
                          <a:ea typeface="Calibri" pitchFamily="34" charset="-122"/>
                          <a:cs typeface="Calibri" pitchFamily="34" charset="-120"/>
                        </a:rPr>
                        <a:t>Definition</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Unstructured facts — text, observations, images, symbols. No meaning on its own.</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Processed, organized, structured data. Gives context and supports decisions.</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80160">
                <a:tc>
                  <a:txBody>
                    <a:bodyPr/>
                    <a:lstStyle/>
                    <a:p>
                      <a:pPr marL="0" indent="0" algn="l">
                        <a:buNone/>
                      </a:pPr>
                      <a:r>
                        <a:rPr lang="en-US" sz="1150" b="1" dirty="0">
                          <a:solidFill>
                            <a:srgbClr val="0F1B2D"/>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Raw variables used to develop ideas and conclusions.</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Meaningful data, ready to use.</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88720">
                <a:tc>
                  <a:txBody>
                    <a:bodyPr/>
                    <a:lstStyle/>
                    <a:p>
                      <a:pPr marL="0" indent="0" algn="l">
                        <a:buNone/>
                      </a:pPr>
                      <a:r>
                        <a:rPr lang="en-US" sz="1150" b="1" dirty="0">
                          <a:solidFill>
                            <a:srgbClr val="0F1B2D"/>
                          </a:solidFill>
                          <a:latin typeface="Calibri" pitchFamily="34" charset="0"/>
                          <a:ea typeface="Calibri" pitchFamily="34" charset="-122"/>
                          <a:cs typeface="Calibri" pitchFamily="34" charset="-120"/>
                        </a:rPr>
                        <a:t>Nature</a:t>
                      </a:r>
                      <a:endParaRPr lang="en-US" sz="115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Plain text and numeric values.</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733"/>
                          </a:solidFill>
                          <a:latin typeface="Calibri" pitchFamily="34" charset="0"/>
                          <a:ea typeface="Calibri" pitchFamily="34" charset="-122"/>
                          <a:cs typeface="Calibri" pitchFamily="34" charset="-120"/>
                        </a:rPr>
                        <a:t>A refined, contextual form of data.</a:t>
                      </a:r>
                      <a:endParaRPr lang="en-US" sz="1400" dirty="0">
                        <a:latin typeface="Calibri" charset="0"/>
                        <a:ea typeface="Calibri" charset="0"/>
                        <a:cs typeface="Calibri" charset="0"/>
                      </a:endParaRPr>
                    </a:p>
                  </a:txBody>
                  <a:tcPr marL="127000" marR="127000" marT="101600" marB="1016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What Is a Database?</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Definition</a:t>
            </a:r>
            <a:endParaRPr lang="en-US" sz="1700" dirty="0"/>
          </a:p>
        </p:txBody>
      </p:sp>
      <p:sp>
        <p:nvSpPr>
          <p:cNvPr id="8" name="Text 6"/>
          <p:cNvSpPr/>
          <p:nvPr/>
        </p:nvSpPr>
        <p:spPr>
          <a:xfrm>
            <a:off x="914400" y="2651760"/>
            <a:ext cx="4640580" cy="3520440"/>
          </a:xfrm>
          <a:prstGeom prst="rect">
            <a:avLst/>
          </a:prstGeom>
          <a:noFill/>
          <a:ln/>
        </p:spPr>
        <p:txBody>
          <a:bodyPr wrap="square" rtlCol="0" anchor="t"/>
          <a:lstStyle/>
          <a:p>
            <a:pPr marL="0" indent="0">
              <a:lnSpc>
                <a:spcPct val="118000"/>
              </a:lnSpc>
              <a:buNone/>
            </a:pPr>
            <a:r>
              <a:rPr lang="en-US" sz="2000" dirty="0">
                <a:solidFill>
                  <a:srgbClr val="1B2733"/>
                </a:solidFill>
                <a:latin typeface="Calibri" pitchFamily="34" charset="0"/>
                <a:ea typeface="Calibri" pitchFamily="34" charset="-122"/>
                <a:cs typeface="Calibri" pitchFamily="34" charset="-120"/>
              </a:rPr>
              <a:t>A database is an organized collection of related data, stored electronically and structured so it can be easily accessed, managed, retrieved, and updated. Databases are designed to minimize redundant data and represent real-world relationships between pieces of information.</a:t>
            </a:r>
            <a:endParaRPr lang="en-US" sz="2000" dirty="0"/>
          </a:p>
        </p:txBody>
      </p:sp>
      <p:sp>
        <p:nvSpPr>
          <p:cNvPr id="9" name="Shape 7"/>
          <p:cNvSpPr/>
          <p:nvPr/>
        </p:nvSpPr>
        <p:spPr>
          <a:xfrm>
            <a:off x="61950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6515100" y="2011680"/>
            <a:ext cx="384048" cy="54864"/>
          </a:xfrm>
          <a:prstGeom prst="rect">
            <a:avLst/>
          </a:prstGeom>
          <a:solidFill>
            <a:srgbClr val="2FD4C4"/>
          </a:solidFill>
          <a:ln/>
        </p:spPr>
        <p:txBody>
          <a:bodyPr/>
          <a:lstStyle/>
          <a:p>
            <a:endParaRPr lang="en-PH"/>
          </a:p>
        </p:txBody>
      </p:sp>
      <p:sp>
        <p:nvSpPr>
          <p:cNvPr id="11" name="Text 9"/>
          <p:cNvSpPr/>
          <p:nvPr/>
        </p:nvSpPr>
        <p:spPr>
          <a:xfrm>
            <a:off x="65151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Example</a:t>
            </a:r>
            <a:endParaRPr lang="en-US" sz="1700" dirty="0"/>
          </a:p>
        </p:txBody>
      </p:sp>
      <p:sp>
        <p:nvSpPr>
          <p:cNvPr id="12" name="Text 10"/>
          <p:cNvSpPr/>
          <p:nvPr/>
        </p:nvSpPr>
        <p:spPr>
          <a:xfrm>
            <a:off x="6515100" y="2651760"/>
            <a:ext cx="46405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A school database stores students, courses, and enrollments as separate but related collections of records — instead of one giant, unorganized list.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Anatomy of a Database Table</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4114800" cy="2926080"/>
          </a:xfrm>
          <a:prstGeom prst="rect">
            <a:avLst/>
          </a:prstGeom>
          <a:noFill/>
          <a:ln/>
        </p:spPr>
        <p:txBody>
          <a:bodyPr wrap="square" rtlCol="0" anchor="t"/>
          <a:lstStyle/>
          <a:p>
            <a:pPr marL="0" indent="0">
              <a:spcAft>
                <a:spcPts val="800"/>
              </a:spcAft>
              <a:buNone/>
            </a:pPr>
            <a:r>
              <a:rPr lang="en-US" dirty="0">
                <a:solidFill>
                  <a:srgbClr val="1B2733"/>
                </a:solidFill>
                <a:latin typeface="Calibri" pitchFamily="34" charset="0"/>
                <a:ea typeface="Calibri" pitchFamily="34" charset="-122"/>
                <a:cs typeface="Calibri" pitchFamily="34" charset="-120"/>
              </a:rPr>
              <a:t>A table is a collection of related data entries made of columns and rows.</a:t>
            </a:r>
            <a:endParaRPr lang="en-US" dirty="0"/>
          </a:p>
          <a:p>
            <a:pPr marL="0" indent="0">
              <a:buNone/>
            </a:pPr>
            <a:r>
              <a:rPr lang="en-US" b="1" dirty="0">
                <a:solidFill>
                  <a:srgbClr val="0F1B2D"/>
                </a:solidFill>
                <a:latin typeface="Calibri" pitchFamily="34" charset="0"/>
                <a:ea typeface="Calibri" pitchFamily="34" charset="-122"/>
                <a:cs typeface="Calibri" pitchFamily="34" charset="-120"/>
              </a:rPr>
              <a:t>Column (field / attribute): </a:t>
            </a:r>
            <a:r>
              <a:rPr lang="en-US" dirty="0">
                <a:solidFill>
                  <a:srgbClr val="1B2733"/>
                </a:solidFill>
                <a:latin typeface="Calibri" pitchFamily="34" charset="0"/>
                <a:ea typeface="Calibri" pitchFamily="34" charset="-122"/>
                <a:cs typeface="Calibri" pitchFamily="34" charset="-120"/>
              </a:rPr>
              <a:t>a vertical entity holding one type of value.</a:t>
            </a:r>
            <a:endParaRPr lang="en-US" dirty="0"/>
          </a:p>
          <a:p>
            <a:r>
              <a:rPr lang="en-US" b="1" dirty="0">
                <a:solidFill>
                  <a:srgbClr val="0F1B2D"/>
                </a:solidFill>
                <a:latin typeface="Calibri" pitchFamily="34" charset="0"/>
                <a:ea typeface="Calibri" pitchFamily="34" charset="-122"/>
                <a:cs typeface="Calibri" pitchFamily="34" charset="-120"/>
              </a:rPr>
              <a:t>Row (record / tuple): </a:t>
            </a:r>
            <a:r>
              <a:rPr lang="en-US" dirty="0">
                <a:solidFill>
                  <a:srgbClr val="1B2733"/>
                </a:solidFill>
                <a:latin typeface="Calibri" pitchFamily="34" charset="0"/>
                <a:ea typeface="Calibri" pitchFamily="34" charset="-122"/>
                <a:cs typeface="Calibri" pitchFamily="34" charset="-120"/>
              </a:rPr>
              <a:t>a horizontal entity holding one individual </a:t>
            </a:r>
            <a:r>
              <a:rPr lang="en-US" dirty="0" err="1">
                <a:solidFill>
                  <a:srgbClr val="1B2733"/>
                </a:solidFill>
                <a:latin typeface="Calibri" pitchFamily="34" charset="0"/>
                <a:ea typeface="Calibri" pitchFamily="34" charset="-122"/>
                <a:cs typeface="Calibri" pitchFamily="34" charset="-120"/>
              </a:rPr>
              <a:t>ent.ry</a:t>
            </a:r>
            <a:endParaRPr lang="en-US" dirty="0"/>
          </a:p>
        </p:txBody>
      </p:sp>
      <p:graphicFrame>
        <p:nvGraphicFramePr>
          <p:cNvPr id="23" name="Table 0"/>
          <p:cNvGraphicFramePr>
            <a:graphicFrameLocks noGrp="1"/>
          </p:cNvGraphicFramePr>
          <p:nvPr/>
        </p:nvGraphicFramePr>
        <p:xfrm>
          <a:off x="5029200" y="1828800"/>
          <a:ext cx="6400800" cy="164592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marL="0" indent="0" algn="ctr">
                        <a:buNone/>
                      </a:pPr>
                      <a:r>
                        <a:rPr lang="en-US" sz="1200" b="1" dirty="0">
                          <a:solidFill>
                            <a:srgbClr val="FFFFFF"/>
                          </a:solidFill>
                        </a:rPr>
                        <a:t>StudentID</a:t>
                      </a:r>
                      <a:endParaRPr lang="en-US" sz="12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200" b="1" dirty="0">
                          <a:solidFill>
                            <a:srgbClr val="FFFFFF"/>
                          </a:solidFill>
                        </a:rPr>
                        <a:t>Name</a:t>
                      </a:r>
                      <a:endParaRPr lang="en-US" sz="12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200" b="1" dirty="0">
                          <a:solidFill>
                            <a:srgbClr val="FFFFFF"/>
                          </a:solidFill>
                        </a:rPr>
                        <a:t>Course</a:t>
                      </a:r>
                      <a:endParaRPr lang="en-US" sz="12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200" b="1" dirty="0">
                          <a:solidFill>
                            <a:srgbClr val="FFFFFF"/>
                          </a:solidFill>
                        </a:rPr>
                        <a:t>Age</a:t>
                      </a:r>
                      <a:endParaRPr lang="en-US" sz="12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411480">
                <a:tc>
                  <a:txBody>
                    <a:bodyPr/>
                    <a:lstStyle/>
                    <a:p>
                      <a:pPr marL="0" indent="0" algn="ctr">
                        <a:buNone/>
                      </a:pPr>
                      <a:r>
                        <a:rPr lang="en-US" sz="1150" dirty="0">
                          <a:solidFill>
                            <a:srgbClr val="1B2733"/>
                          </a:solidFill>
                        </a:rPr>
                        <a:t>2026-001</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John Cruz</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BSIT</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18</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150" dirty="0">
                          <a:solidFill>
                            <a:srgbClr val="1B2733"/>
                          </a:solidFill>
                        </a:rPr>
                        <a:t>2026-002</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ctr">
                        <a:buNone/>
                      </a:pPr>
                      <a:r>
                        <a:rPr lang="en-US" sz="1150" dirty="0">
                          <a:solidFill>
                            <a:srgbClr val="1B2733"/>
                          </a:solidFill>
                        </a:rPr>
                        <a:t>Maria Santos</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ctr">
                        <a:buNone/>
                      </a:pPr>
                      <a:r>
                        <a:rPr lang="en-US" sz="1150" dirty="0">
                          <a:solidFill>
                            <a:srgbClr val="1B2733"/>
                          </a:solidFill>
                        </a:rPr>
                        <a:t>BSIT</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lgn="ctr">
                        <a:buNone/>
                      </a:pPr>
                      <a:r>
                        <a:rPr lang="en-US" sz="1150" dirty="0">
                          <a:solidFill>
                            <a:srgbClr val="1B2733"/>
                          </a:solidFill>
                        </a:rPr>
                        <a:t>19</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411480">
                <a:tc>
                  <a:txBody>
                    <a:bodyPr/>
                    <a:lstStyle/>
                    <a:p>
                      <a:pPr marL="0" indent="0" algn="ctr">
                        <a:buNone/>
                      </a:pPr>
                      <a:r>
                        <a:rPr lang="en-US" sz="1150" dirty="0">
                          <a:solidFill>
                            <a:srgbClr val="1B2733"/>
                          </a:solidFill>
                        </a:rPr>
                        <a:t>2026-003</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Carol Reyes</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BSED</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733"/>
                          </a:solidFill>
                        </a:rPr>
                        <a:t>20</a:t>
                      </a:r>
                      <a:endParaRPr lang="en-US" sz="115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594360" y="4800600"/>
            <a:ext cx="10881360" cy="1417320"/>
          </a:xfrm>
          <a:prstGeom prst="roundRect">
            <a:avLst>
              <a:gd name="adj" fmla="val 6452"/>
            </a:avLst>
          </a:prstGeom>
          <a:solidFill>
            <a:srgbClr val="EEF2F7"/>
          </a:solidFill>
          <a:ln w="12700">
            <a:solidFill>
              <a:srgbClr val="E2E8F0"/>
            </a:solidFill>
            <a:prstDash val="solid"/>
          </a:ln>
        </p:spPr>
        <p:txBody>
          <a:bodyPr/>
          <a:lstStyle/>
          <a:p>
            <a:endParaRPr lang="en-PH"/>
          </a:p>
        </p:txBody>
      </p:sp>
      <p:sp>
        <p:nvSpPr>
          <p:cNvPr id="10" name="Text 7"/>
          <p:cNvSpPr/>
          <p:nvPr/>
        </p:nvSpPr>
        <p:spPr>
          <a:xfrm>
            <a:off x="868680" y="4983480"/>
            <a:ext cx="10332720" cy="1097280"/>
          </a:xfrm>
          <a:prstGeom prst="rect">
            <a:avLst/>
          </a:prstGeom>
          <a:noFill/>
          <a:ln/>
        </p:spPr>
        <p:txBody>
          <a:bodyPr wrap="square" rtlCol="0" anchor="t"/>
          <a:lstStyle/>
          <a:p>
            <a:pPr marL="0" indent="0">
              <a:buNone/>
            </a:pPr>
            <a:r>
              <a:rPr lang="en-US" sz="1600" b="1" dirty="0">
                <a:solidFill>
                  <a:srgbClr val="0F1B2D"/>
                </a:solidFill>
                <a:latin typeface="Calibri" pitchFamily="34" charset="0"/>
                <a:ea typeface="Calibri" pitchFamily="34" charset="-122"/>
                <a:cs typeface="Calibri" pitchFamily="34" charset="-120"/>
              </a:rPr>
              <a:t>Example:  </a:t>
            </a:r>
            <a:r>
              <a:rPr lang="en-US" sz="1600" dirty="0">
                <a:solidFill>
                  <a:srgbClr val="1B2733"/>
                </a:solidFill>
                <a:latin typeface="Calibri" pitchFamily="34" charset="0"/>
                <a:ea typeface="Calibri" pitchFamily="34" charset="-122"/>
                <a:cs typeface="Calibri" pitchFamily="34" charset="-120"/>
              </a:rPr>
              <a:t>In the table above, one row is one student's complete record; one column (e.g. Course) holds the same type of value for every student.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What Is a DBMS?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Definition</a:t>
            </a:r>
            <a:endParaRPr lang="en-US" sz="1700" dirty="0"/>
          </a:p>
        </p:txBody>
      </p:sp>
      <p:sp>
        <p:nvSpPr>
          <p:cNvPr id="8" name="Text 6"/>
          <p:cNvSpPr/>
          <p:nvPr/>
        </p:nvSpPr>
        <p:spPr>
          <a:xfrm>
            <a:off x="914400" y="2651760"/>
            <a:ext cx="4640580" cy="3520440"/>
          </a:xfrm>
          <a:prstGeom prst="rect">
            <a:avLst/>
          </a:prstGeom>
          <a:noFill/>
          <a:ln/>
        </p:spPr>
        <p:txBody>
          <a:bodyPr wrap="square" rtlCol="0" anchor="t"/>
          <a:lstStyle/>
          <a:p>
            <a:pPr marL="0" indent="0">
              <a:lnSpc>
                <a:spcPct val="118000"/>
              </a:lnSpc>
              <a:buNone/>
            </a:pPr>
            <a:r>
              <a:rPr lang="en-US" sz="2000" dirty="0">
                <a:solidFill>
                  <a:srgbClr val="1B2733"/>
                </a:solidFill>
                <a:latin typeface="Calibri" pitchFamily="34" charset="0"/>
                <a:ea typeface="Calibri" pitchFamily="34" charset="-122"/>
                <a:cs typeface="Calibri" pitchFamily="34" charset="-120"/>
              </a:rPr>
              <a:t>A Database Management System (DBMS) is software that lets users and applications create, read, update, delete, and manage data — without needing to understand how it's physically stored. Examples: MySQL, PostgreSQL, Oracle, and Microsoft SQL Server. Related tables are linked based on common data; a DBMS is essentially a computerized record-keeping system.</a:t>
            </a:r>
            <a:endParaRPr lang="en-US" sz="2000" dirty="0"/>
          </a:p>
        </p:txBody>
      </p:sp>
      <p:sp>
        <p:nvSpPr>
          <p:cNvPr id="9" name="Shape 7"/>
          <p:cNvSpPr/>
          <p:nvPr/>
        </p:nvSpPr>
        <p:spPr>
          <a:xfrm>
            <a:off x="6195060" y="1691640"/>
            <a:ext cx="5280660" cy="4709160"/>
          </a:xfrm>
          <a:prstGeom prst="roundRect">
            <a:avLst>
              <a:gd name="adj" fmla="val 1942"/>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6515100" y="2011680"/>
            <a:ext cx="384048" cy="54864"/>
          </a:xfrm>
          <a:prstGeom prst="rect">
            <a:avLst/>
          </a:prstGeom>
          <a:solidFill>
            <a:srgbClr val="2FD4C4"/>
          </a:solidFill>
          <a:ln/>
        </p:spPr>
        <p:txBody>
          <a:bodyPr/>
          <a:lstStyle/>
          <a:p>
            <a:endParaRPr lang="en-PH"/>
          </a:p>
        </p:txBody>
      </p:sp>
      <p:sp>
        <p:nvSpPr>
          <p:cNvPr id="11" name="Text 9"/>
          <p:cNvSpPr/>
          <p:nvPr/>
        </p:nvSpPr>
        <p:spPr>
          <a:xfrm>
            <a:off x="6515100" y="2148840"/>
            <a:ext cx="46405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Example</a:t>
            </a:r>
            <a:endParaRPr lang="en-US" sz="1700" dirty="0"/>
          </a:p>
        </p:txBody>
      </p:sp>
      <p:sp>
        <p:nvSpPr>
          <p:cNvPr id="12" name="Text 10"/>
          <p:cNvSpPr/>
          <p:nvPr/>
        </p:nvSpPr>
        <p:spPr>
          <a:xfrm>
            <a:off x="6515100" y="2651760"/>
            <a:ext cx="4640580" cy="3520440"/>
          </a:xfrm>
          <a:prstGeom prst="rect">
            <a:avLst/>
          </a:prstGeom>
          <a:noFill/>
          <a:ln/>
        </p:spPr>
        <p:txBody>
          <a:bodyPr wrap="square" rtlCol="0" anchor="t"/>
          <a:lstStyle/>
          <a:p>
            <a:pPr marL="0" indent="0">
              <a:lnSpc>
                <a:spcPct val="118000"/>
              </a:lnSpc>
              <a:buNone/>
            </a:pPr>
            <a:r>
              <a:rPr lang="en-US" sz="1400" dirty="0">
                <a:solidFill>
                  <a:srgbClr val="1B2733"/>
                </a:solidFill>
                <a:latin typeface="Calibri" pitchFamily="34" charset="0"/>
                <a:ea typeface="Calibri" pitchFamily="34" charset="-122"/>
                <a:cs typeface="Calibri" pitchFamily="34" charset="-120"/>
              </a:rPr>
              <a:t>When a registrar enrolls a new student, the interface calls the DBMS behind the scenes to safely insert that student's record into the database.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One Database, Many Users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Text 3"/>
          <p:cNvSpPr/>
          <p:nvPr/>
        </p:nvSpPr>
        <p:spPr>
          <a:xfrm>
            <a:off x="594360" y="1691640"/>
            <a:ext cx="10607040" cy="4663440"/>
          </a:xfrm>
          <a:prstGeom prst="rect">
            <a:avLst/>
          </a:prstGeom>
          <a:noFill/>
          <a:ln/>
        </p:spPr>
        <p:txBody>
          <a:bodyPr wrap="square" rtlCol="0" anchor="t"/>
          <a:lstStyle/>
          <a:p>
            <a:pPr marL="342900" indent="-342900">
              <a:spcAft>
                <a:spcPts val="1200"/>
              </a:spcAft>
              <a:buSzPct val="100000"/>
              <a:buChar char="•"/>
            </a:pPr>
            <a:r>
              <a:rPr lang="en-US" dirty="0">
                <a:solidFill>
                  <a:srgbClr val="1B2733"/>
                </a:solidFill>
                <a:latin typeface="Calibri" pitchFamily="34" charset="0"/>
                <a:ea typeface="Calibri" pitchFamily="34" charset="-122"/>
                <a:cs typeface="Calibri" pitchFamily="34" charset="-120"/>
              </a:rPr>
              <a:t>A database in a DBMS can be viewed by many different people with different responsibilities.</a:t>
            </a:r>
            <a:endParaRPr lang="en-US" dirty="0"/>
          </a:p>
          <a:p>
            <a:pPr marL="342900" indent="-342900">
              <a:spcAft>
                <a:spcPts val="1200"/>
              </a:spcAft>
              <a:buSzPct val="100000"/>
              <a:buChar char="•"/>
            </a:pPr>
            <a:r>
              <a:rPr lang="en-US" dirty="0">
                <a:solidFill>
                  <a:srgbClr val="1B2733"/>
                </a:solidFill>
                <a:latin typeface="Calibri" pitchFamily="34" charset="0"/>
                <a:ea typeface="Calibri" pitchFamily="34" charset="-122"/>
                <a:cs typeface="Calibri" pitchFamily="34" charset="-120"/>
              </a:rPr>
              <a:t>Departments, customers, and staff each need to see different kinds of data.</a:t>
            </a:r>
            <a:endParaRPr lang="en-US" dirty="0"/>
          </a:p>
          <a:p>
            <a:pPr marL="342900" indent="-342900">
              <a:spcAft>
                <a:spcPts val="1200"/>
              </a:spcAft>
              <a:buSzPct val="100000"/>
              <a:buChar char="•"/>
            </a:pPr>
            <a:r>
              <a:rPr lang="en-US" dirty="0">
                <a:solidFill>
                  <a:srgbClr val="1B2733"/>
                </a:solidFill>
                <a:latin typeface="Calibri" pitchFamily="34" charset="0"/>
                <a:ea typeface="Calibri" pitchFamily="34" charset="-122"/>
                <a:cs typeface="Calibri" pitchFamily="34" charset="-120"/>
              </a:rPr>
              <a:t>Each user gets a customized front-end application with their own level of access.</a:t>
            </a:r>
            <a:endParaRPr lang="en-US" dirty="0"/>
          </a:p>
        </p:txBody>
      </p:sp>
      <p:sp>
        <p:nvSpPr>
          <p:cNvPr id="6" name="Freeform 5">
            <a:extLst>
              <a:ext uri="{FF2B5EF4-FFF2-40B4-BE49-F238E27FC236}">
                <a16:creationId xmlns:a16="http://schemas.microsoft.com/office/drawing/2014/main" id="{05C99F8B-E749-639F-7B00-3A150EE4985C}"/>
              </a:ext>
            </a:extLst>
          </p:cNvPr>
          <p:cNvSpPr/>
          <p:nvPr/>
        </p:nvSpPr>
        <p:spPr>
          <a:xfrm>
            <a:off x="3170688" y="3006670"/>
            <a:ext cx="5871712" cy="3851330"/>
          </a:xfrm>
          <a:custGeom>
            <a:avLst/>
            <a:gdLst/>
            <a:ahLst/>
            <a:cxnLst/>
            <a:rect l="l" t="t" r="r" b="b"/>
            <a:pathLst>
              <a:path w="11605050" h="6919237">
                <a:moveTo>
                  <a:pt x="0" y="0"/>
                </a:moveTo>
                <a:lnTo>
                  <a:pt x="11605050" y="0"/>
                </a:lnTo>
                <a:lnTo>
                  <a:pt x="11605050" y="6919238"/>
                </a:lnTo>
                <a:lnTo>
                  <a:pt x="0" y="6919238"/>
                </a:lnTo>
                <a:lnTo>
                  <a:pt x="0" y="0"/>
                </a:lnTo>
                <a:close/>
              </a:path>
            </a:pathLst>
          </a:custGeom>
          <a:blipFill>
            <a:blip r:embed="rId3"/>
            <a:stretch>
              <a:fillRect r="-6253"/>
            </a:stretch>
          </a:blipFill>
        </p:spPr>
        <p:txBody>
          <a:bodyPr/>
          <a:lstStyle/>
          <a:p>
            <a:endParaRPr lang="en-P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Where Databases Are Used</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3736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868680" y="1993392"/>
            <a:ext cx="457200" cy="457200"/>
          </a:xfrm>
          <a:prstGeom prst="roundRect">
            <a:avLst>
              <a:gd name="adj" fmla="val 50000"/>
            </a:avLst>
          </a:prstGeom>
          <a:solidFill>
            <a:srgbClr val="0F1B2D"/>
          </a:solidFill>
          <a:ln/>
        </p:spPr>
        <p:txBody>
          <a:bodyPr/>
          <a:lstStyle/>
          <a:p>
            <a:endParaRPr lang="en-PH"/>
          </a:p>
        </p:txBody>
      </p:sp>
      <p:sp>
        <p:nvSpPr>
          <p:cNvPr id="7" name="Text 5"/>
          <p:cNvSpPr/>
          <p:nvPr/>
        </p:nvSpPr>
        <p:spPr>
          <a:xfrm>
            <a:off x="868680" y="260604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Banking</a:t>
            </a:r>
            <a:endParaRPr lang="en-US" sz="1450" dirty="0"/>
          </a:p>
        </p:txBody>
      </p:sp>
      <p:sp>
        <p:nvSpPr>
          <p:cNvPr id="8" name="Text 6"/>
          <p:cNvSpPr/>
          <p:nvPr/>
        </p:nvSpPr>
        <p:spPr>
          <a:xfrm>
            <a:off x="868680" y="297180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Accounts, loans, and everyday transactions.</a:t>
            </a:r>
            <a:endParaRPr lang="en-US" sz="1100" dirty="0"/>
          </a:p>
        </p:txBody>
      </p:sp>
      <p:sp>
        <p:nvSpPr>
          <p:cNvPr id="9" name="Shape 7"/>
          <p:cNvSpPr/>
          <p:nvPr/>
        </p:nvSpPr>
        <p:spPr>
          <a:xfrm>
            <a:off x="4312920" y="173736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4587240" y="1993392"/>
            <a:ext cx="457200" cy="457200"/>
          </a:xfrm>
          <a:prstGeom prst="roundRect">
            <a:avLst>
              <a:gd name="adj" fmla="val 50000"/>
            </a:avLst>
          </a:prstGeom>
          <a:solidFill>
            <a:srgbClr val="16324F"/>
          </a:solidFill>
          <a:ln/>
        </p:spPr>
        <p:txBody>
          <a:bodyPr/>
          <a:lstStyle/>
          <a:p>
            <a:endParaRPr lang="en-PH"/>
          </a:p>
        </p:txBody>
      </p:sp>
      <p:sp>
        <p:nvSpPr>
          <p:cNvPr id="11" name="Text 9"/>
          <p:cNvSpPr/>
          <p:nvPr/>
        </p:nvSpPr>
        <p:spPr>
          <a:xfrm>
            <a:off x="4587240" y="260604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Airlines</a:t>
            </a:r>
            <a:endParaRPr lang="en-US" sz="1450" dirty="0"/>
          </a:p>
        </p:txBody>
      </p:sp>
      <p:sp>
        <p:nvSpPr>
          <p:cNvPr id="12" name="Text 10"/>
          <p:cNvSpPr/>
          <p:nvPr/>
        </p:nvSpPr>
        <p:spPr>
          <a:xfrm>
            <a:off x="4587240" y="297180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Reservations and flight schedules.</a:t>
            </a:r>
            <a:endParaRPr lang="en-US" sz="1100" dirty="0"/>
          </a:p>
        </p:txBody>
      </p:sp>
      <p:sp>
        <p:nvSpPr>
          <p:cNvPr id="13" name="Shape 11"/>
          <p:cNvSpPr/>
          <p:nvPr/>
        </p:nvSpPr>
        <p:spPr>
          <a:xfrm>
            <a:off x="8031480" y="173736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4" name="Shape 12"/>
          <p:cNvSpPr/>
          <p:nvPr/>
        </p:nvSpPr>
        <p:spPr>
          <a:xfrm>
            <a:off x="8305800" y="1993392"/>
            <a:ext cx="457200" cy="457200"/>
          </a:xfrm>
          <a:prstGeom prst="roundRect">
            <a:avLst>
              <a:gd name="adj" fmla="val 50000"/>
            </a:avLst>
          </a:prstGeom>
          <a:solidFill>
            <a:srgbClr val="E8674F"/>
          </a:solidFill>
          <a:ln/>
        </p:spPr>
        <p:txBody>
          <a:bodyPr/>
          <a:lstStyle/>
          <a:p>
            <a:endParaRPr lang="en-PH"/>
          </a:p>
        </p:txBody>
      </p:sp>
      <p:sp>
        <p:nvSpPr>
          <p:cNvPr id="15" name="Text 13"/>
          <p:cNvSpPr/>
          <p:nvPr/>
        </p:nvSpPr>
        <p:spPr>
          <a:xfrm>
            <a:off x="8305800" y="260604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Universities</a:t>
            </a:r>
            <a:endParaRPr lang="en-US" sz="1450" dirty="0"/>
          </a:p>
        </p:txBody>
      </p:sp>
      <p:sp>
        <p:nvSpPr>
          <p:cNvPr id="16" name="Text 14"/>
          <p:cNvSpPr/>
          <p:nvPr/>
        </p:nvSpPr>
        <p:spPr>
          <a:xfrm>
            <a:off x="8305800" y="297180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Student records, registration, and grades.</a:t>
            </a:r>
            <a:endParaRPr lang="en-US" sz="1100" dirty="0"/>
          </a:p>
        </p:txBody>
      </p:sp>
      <p:sp>
        <p:nvSpPr>
          <p:cNvPr id="17" name="Shape 15"/>
          <p:cNvSpPr/>
          <p:nvPr/>
        </p:nvSpPr>
        <p:spPr>
          <a:xfrm>
            <a:off x="594360" y="416052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8" name="Shape 16"/>
          <p:cNvSpPr/>
          <p:nvPr/>
        </p:nvSpPr>
        <p:spPr>
          <a:xfrm>
            <a:off x="868680" y="4416552"/>
            <a:ext cx="457200" cy="457200"/>
          </a:xfrm>
          <a:prstGeom prst="roundRect">
            <a:avLst>
              <a:gd name="adj" fmla="val 50000"/>
            </a:avLst>
          </a:prstGeom>
          <a:solidFill>
            <a:srgbClr val="F2A93B"/>
          </a:solidFill>
          <a:ln/>
        </p:spPr>
        <p:txBody>
          <a:bodyPr/>
          <a:lstStyle/>
          <a:p>
            <a:endParaRPr lang="en-PH"/>
          </a:p>
        </p:txBody>
      </p:sp>
      <p:sp>
        <p:nvSpPr>
          <p:cNvPr id="19" name="Text 17"/>
          <p:cNvSpPr/>
          <p:nvPr/>
        </p:nvSpPr>
        <p:spPr>
          <a:xfrm>
            <a:off x="868680" y="502920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Manufacturing</a:t>
            </a:r>
            <a:endParaRPr lang="en-US" sz="1450" dirty="0"/>
          </a:p>
        </p:txBody>
      </p:sp>
      <p:sp>
        <p:nvSpPr>
          <p:cNvPr id="20" name="Text 18"/>
          <p:cNvSpPr/>
          <p:nvPr/>
        </p:nvSpPr>
        <p:spPr>
          <a:xfrm>
            <a:off x="868680" y="539496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Supply chains, inventory, and orders.</a:t>
            </a:r>
            <a:endParaRPr lang="en-US" sz="1100" dirty="0"/>
          </a:p>
        </p:txBody>
      </p:sp>
      <p:sp>
        <p:nvSpPr>
          <p:cNvPr id="21" name="Shape 19"/>
          <p:cNvSpPr/>
          <p:nvPr/>
        </p:nvSpPr>
        <p:spPr>
          <a:xfrm>
            <a:off x="4312920" y="416052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2" name="Shape 20"/>
          <p:cNvSpPr/>
          <p:nvPr/>
        </p:nvSpPr>
        <p:spPr>
          <a:xfrm>
            <a:off x="4587240" y="4416552"/>
            <a:ext cx="457200" cy="457200"/>
          </a:xfrm>
          <a:prstGeom prst="roundRect">
            <a:avLst>
              <a:gd name="adj" fmla="val 50000"/>
            </a:avLst>
          </a:prstGeom>
          <a:solidFill>
            <a:srgbClr val="0E9C8E"/>
          </a:solidFill>
          <a:ln/>
        </p:spPr>
        <p:txBody>
          <a:bodyPr/>
          <a:lstStyle/>
          <a:p>
            <a:endParaRPr lang="en-PH"/>
          </a:p>
        </p:txBody>
      </p:sp>
      <p:sp>
        <p:nvSpPr>
          <p:cNvPr id="23" name="Text 21"/>
          <p:cNvSpPr/>
          <p:nvPr/>
        </p:nvSpPr>
        <p:spPr>
          <a:xfrm>
            <a:off x="4587240" y="502920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Human Resources</a:t>
            </a:r>
            <a:endParaRPr lang="en-US" sz="1450" dirty="0"/>
          </a:p>
        </p:txBody>
      </p:sp>
      <p:sp>
        <p:nvSpPr>
          <p:cNvPr id="24" name="Text 22"/>
          <p:cNvSpPr/>
          <p:nvPr/>
        </p:nvSpPr>
        <p:spPr>
          <a:xfrm>
            <a:off x="4587240" y="539496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Employee data, payroll, and benefits.</a:t>
            </a:r>
            <a:endParaRPr lang="en-US" sz="1100" dirty="0"/>
          </a:p>
        </p:txBody>
      </p:sp>
      <p:sp>
        <p:nvSpPr>
          <p:cNvPr id="25" name="Shape 23"/>
          <p:cNvSpPr/>
          <p:nvPr/>
        </p:nvSpPr>
        <p:spPr>
          <a:xfrm>
            <a:off x="8031480" y="4160520"/>
            <a:ext cx="3444240" cy="2148840"/>
          </a:xfrm>
          <a:prstGeom prst="roundRect">
            <a:avLst>
              <a:gd name="adj" fmla="val 4255"/>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26" name="Shape 24"/>
          <p:cNvSpPr/>
          <p:nvPr/>
        </p:nvSpPr>
        <p:spPr>
          <a:xfrm>
            <a:off x="8305800" y="4416552"/>
            <a:ext cx="457200" cy="457200"/>
          </a:xfrm>
          <a:prstGeom prst="roundRect">
            <a:avLst>
              <a:gd name="adj" fmla="val 50000"/>
            </a:avLst>
          </a:prstGeom>
          <a:solidFill>
            <a:srgbClr val="8B7CF6"/>
          </a:solidFill>
          <a:ln/>
        </p:spPr>
        <p:txBody>
          <a:bodyPr/>
          <a:lstStyle/>
          <a:p>
            <a:endParaRPr lang="en-PH"/>
          </a:p>
        </p:txBody>
      </p:sp>
      <p:sp>
        <p:nvSpPr>
          <p:cNvPr id="27" name="Text 25"/>
          <p:cNvSpPr/>
          <p:nvPr/>
        </p:nvSpPr>
        <p:spPr>
          <a:xfrm>
            <a:off x="8305800" y="5029200"/>
            <a:ext cx="2895600" cy="365760"/>
          </a:xfrm>
          <a:prstGeom prst="rect">
            <a:avLst/>
          </a:prstGeom>
          <a:noFill/>
          <a:ln/>
        </p:spPr>
        <p:txBody>
          <a:bodyPr wrap="square" rtlCol="0" anchor="ctr"/>
          <a:lstStyle/>
          <a:p>
            <a:pPr marL="0" indent="0">
              <a:buNone/>
            </a:pPr>
            <a:r>
              <a:rPr lang="en-US" sz="1450" b="1" dirty="0">
                <a:solidFill>
                  <a:srgbClr val="0F1B2D"/>
                </a:solidFill>
                <a:latin typeface="Calibri" pitchFamily="34" charset="0"/>
                <a:ea typeface="Calibri" pitchFamily="34" charset="-122"/>
                <a:cs typeface="Calibri" pitchFamily="34" charset="-120"/>
              </a:rPr>
              <a:t>Online Retail</a:t>
            </a:r>
            <a:endParaRPr lang="en-US" sz="1450" dirty="0"/>
          </a:p>
        </p:txBody>
      </p:sp>
      <p:sp>
        <p:nvSpPr>
          <p:cNvPr id="28" name="Text 26"/>
          <p:cNvSpPr/>
          <p:nvPr/>
        </p:nvSpPr>
        <p:spPr>
          <a:xfrm>
            <a:off x="8305800" y="5394960"/>
            <a:ext cx="2895600" cy="777240"/>
          </a:xfrm>
          <a:prstGeom prst="rect">
            <a:avLst/>
          </a:prstGeom>
          <a:noFill/>
          <a:ln/>
        </p:spPr>
        <p:txBody>
          <a:bodyPr wrap="square" rtlCol="0" anchor="t"/>
          <a:lstStyle/>
          <a:p>
            <a:pPr marL="0" indent="0">
              <a:lnSpc>
                <a:spcPct val="115000"/>
              </a:lnSpc>
              <a:buNone/>
            </a:pPr>
            <a:r>
              <a:rPr lang="en-US" sz="1100" dirty="0">
                <a:solidFill>
                  <a:srgbClr val="5B6B7C"/>
                </a:solidFill>
                <a:latin typeface="Calibri" pitchFamily="34" charset="0"/>
                <a:ea typeface="Calibri" pitchFamily="34" charset="-122"/>
                <a:cs typeface="Calibri" pitchFamily="34" charset="-120"/>
              </a:rPr>
              <a:t>Orders, recommendations, and reviews.</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Enterprise Information Systems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Sales &amp; Accounting</a:t>
            </a:r>
            <a:endParaRPr lang="en-US" sz="1700" dirty="0"/>
          </a:p>
        </p:txBody>
      </p:sp>
      <p:sp>
        <p:nvSpPr>
          <p:cNvPr id="8" name="Text 6"/>
          <p:cNvSpPr/>
          <p:nvPr/>
        </p:nvSpPr>
        <p:spPr>
          <a:xfrm>
            <a:off x="9144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Sales: customer, product, and purchase information.</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Accounting: payments, receipts, balances, assets, and other accounting records.</a:t>
            </a:r>
            <a:endParaRPr lang="en-US" sz="1600" dirty="0"/>
          </a:p>
        </p:txBody>
      </p:sp>
      <p:sp>
        <p:nvSpPr>
          <p:cNvPr id="9" name="Shape 7"/>
          <p:cNvSpPr/>
          <p:nvPr/>
        </p:nvSpPr>
        <p:spPr>
          <a:xfrm>
            <a:off x="43281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4648200" y="2011680"/>
            <a:ext cx="384048" cy="54864"/>
          </a:xfrm>
          <a:prstGeom prst="rect">
            <a:avLst/>
          </a:prstGeom>
          <a:solidFill>
            <a:srgbClr val="2FD4C4"/>
          </a:solidFill>
          <a:ln/>
        </p:spPr>
        <p:txBody>
          <a:bodyPr/>
          <a:lstStyle/>
          <a:p>
            <a:endParaRPr lang="en-PH"/>
          </a:p>
        </p:txBody>
      </p:sp>
      <p:sp>
        <p:nvSpPr>
          <p:cNvPr id="11" name="Text 9"/>
          <p:cNvSpPr/>
          <p:nvPr/>
        </p:nvSpPr>
        <p:spPr>
          <a:xfrm>
            <a:off x="46482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HR &amp; Manufacturing</a:t>
            </a:r>
            <a:endParaRPr lang="en-US" sz="1700" dirty="0"/>
          </a:p>
        </p:txBody>
      </p:sp>
      <p:sp>
        <p:nvSpPr>
          <p:cNvPr id="12" name="Text 10"/>
          <p:cNvSpPr/>
          <p:nvPr/>
        </p:nvSpPr>
        <p:spPr>
          <a:xfrm>
            <a:off x="46482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Human Resources: employee data, salaries, payroll taxes, benefits, and paychecks.</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Manufacturing: supply chain management, production tracking, inventories, and orders.</a:t>
            </a:r>
            <a:endParaRPr lang="en-US" sz="1600" dirty="0"/>
          </a:p>
        </p:txBody>
      </p:sp>
      <p:sp>
        <p:nvSpPr>
          <p:cNvPr id="13" name="Shape 11"/>
          <p:cNvSpPr/>
          <p:nvPr/>
        </p:nvSpPr>
        <p:spPr>
          <a:xfrm>
            <a:off x="80619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4" name="Shape 12"/>
          <p:cNvSpPr/>
          <p:nvPr/>
        </p:nvSpPr>
        <p:spPr>
          <a:xfrm>
            <a:off x="8382000" y="2011680"/>
            <a:ext cx="384048" cy="54864"/>
          </a:xfrm>
          <a:prstGeom prst="rect">
            <a:avLst/>
          </a:prstGeom>
          <a:solidFill>
            <a:srgbClr val="2FD4C4"/>
          </a:solidFill>
          <a:ln/>
        </p:spPr>
        <p:txBody>
          <a:bodyPr/>
          <a:lstStyle/>
          <a:p>
            <a:endParaRPr lang="en-PH"/>
          </a:p>
        </p:txBody>
      </p:sp>
      <p:sp>
        <p:nvSpPr>
          <p:cNvPr id="15" name="Text 13"/>
          <p:cNvSpPr/>
          <p:nvPr/>
        </p:nvSpPr>
        <p:spPr>
          <a:xfrm>
            <a:off x="83820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Online Retail</a:t>
            </a:r>
            <a:endParaRPr lang="en-US" sz="1700" dirty="0"/>
          </a:p>
        </p:txBody>
      </p:sp>
      <p:sp>
        <p:nvSpPr>
          <p:cNvPr id="16" name="Text 14"/>
          <p:cNvSpPr/>
          <p:nvPr/>
        </p:nvSpPr>
        <p:spPr>
          <a:xfrm>
            <a:off x="83820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Sales data plus order tracking, recommendation lists, and maintenance of online product evaluations.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bg/>
                                          </p:spTgt>
                                        </p:tgtEl>
                                        <p:attrNameLst>
                                          <p:attrName>style.visibility</p:attrName>
                                        </p:attrNameLst>
                                      </p:cBhvr>
                                      <p:to>
                                        <p:strVal val="visible"/>
                                      </p:to>
                                    </p:set>
                                    <p:animEffect transition="in" filter="fade">
                                      <p:cBhvr>
                                        <p:cTn id="10" dur="500"/>
                                        <p:tgtEl>
                                          <p:spTgt spid="8">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500"/>
                                        <p:tgtEl>
                                          <p:spTgt spid="8">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build="allAtOnce" animBg="1"/>
      <p:bldP spid="9" grpId="0" animBg="1"/>
      <p:bldP spid="11" grpId="0" animBg="1"/>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Banking, Finance &amp; More</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6" name="Shape 4"/>
          <p:cNvSpPr/>
          <p:nvPr/>
        </p:nvSpPr>
        <p:spPr>
          <a:xfrm>
            <a:off x="914400" y="2011680"/>
            <a:ext cx="384048" cy="54864"/>
          </a:xfrm>
          <a:prstGeom prst="rect">
            <a:avLst/>
          </a:prstGeom>
          <a:solidFill>
            <a:srgbClr val="2FD4C4"/>
          </a:solidFill>
          <a:ln/>
        </p:spPr>
        <p:txBody>
          <a:bodyPr/>
          <a:lstStyle/>
          <a:p>
            <a:endParaRPr lang="en-PH"/>
          </a:p>
        </p:txBody>
      </p:sp>
      <p:sp>
        <p:nvSpPr>
          <p:cNvPr id="7" name="Text 5"/>
          <p:cNvSpPr/>
          <p:nvPr/>
        </p:nvSpPr>
        <p:spPr>
          <a:xfrm>
            <a:off x="9144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Banking &amp; Credit</a:t>
            </a:r>
            <a:endParaRPr lang="en-US" sz="1700" dirty="0"/>
          </a:p>
        </p:txBody>
      </p:sp>
      <p:sp>
        <p:nvSpPr>
          <p:cNvPr id="8" name="Text 6"/>
          <p:cNvSpPr/>
          <p:nvPr/>
        </p:nvSpPr>
        <p:spPr>
          <a:xfrm>
            <a:off x="9144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Banking: customer information, accounts, loans, and transactions.</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Credit cards: purchases and generation of monthly statements.</a:t>
            </a:r>
            <a:endParaRPr lang="en-US" sz="1600" dirty="0"/>
          </a:p>
        </p:txBody>
      </p:sp>
      <p:sp>
        <p:nvSpPr>
          <p:cNvPr id="9" name="Shape 7"/>
          <p:cNvSpPr/>
          <p:nvPr/>
        </p:nvSpPr>
        <p:spPr>
          <a:xfrm>
            <a:off x="43281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0" name="Shape 8"/>
          <p:cNvSpPr/>
          <p:nvPr/>
        </p:nvSpPr>
        <p:spPr>
          <a:xfrm>
            <a:off x="4648200" y="2011680"/>
            <a:ext cx="384048" cy="54864"/>
          </a:xfrm>
          <a:prstGeom prst="rect">
            <a:avLst/>
          </a:prstGeom>
          <a:solidFill>
            <a:srgbClr val="2FD4C4"/>
          </a:solidFill>
          <a:ln/>
        </p:spPr>
        <p:txBody>
          <a:bodyPr/>
          <a:lstStyle/>
          <a:p>
            <a:endParaRPr lang="en-PH"/>
          </a:p>
        </p:txBody>
      </p:sp>
      <p:sp>
        <p:nvSpPr>
          <p:cNvPr id="11" name="Text 9"/>
          <p:cNvSpPr/>
          <p:nvPr/>
        </p:nvSpPr>
        <p:spPr>
          <a:xfrm>
            <a:off x="46482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Finance</a:t>
            </a:r>
            <a:endParaRPr lang="en-US" sz="1700" dirty="0"/>
          </a:p>
        </p:txBody>
      </p:sp>
      <p:sp>
        <p:nvSpPr>
          <p:cNvPr id="12" name="Text 10"/>
          <p:cNvSpPr/>
          <p:nvPr/>
        </p:nvSpPr>
        <p:spPr>
          <a:xfrm>
            <a:off x="46482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Storing holdings, sales, and purchases of stocks and bonds; real-time market data enabling online and automated trading.</a:t>
            </a:r>
            <a:endParaRPr lang="en-US" sz="1600" dirty="0"/>
          </a:p>
        </p:txBody>
      </p:sp>
      <p:sp>
        <p:nvSpPr>
          <p:cNvPr id="13" name="Shape 11"/>
          <p:cNvSpPr/>
          <p:nvPr/>
        </p:nvSpPr>
        <p:spPr>
          <a:xfrm>
            <a:off x="8061960" y="1691640"/>
            <a:ext cx="3413760" cy="4709160"/>
          </a:xfrm>
          <a:prstGeom prst="roundRect">
            <a:avLst>
              <a:gd name="adj" fmla="val 2679"/>
            </a:avLst>
          </a:prstGeom>
          <a:solidFill>
            <a:srgbClr val="FFFFFF"/>
          </a:solidFill>
          <a:ln w="12700">
            <a:solidFill>
              <a:srgbClr val="E2E8F0"/>
            </a:solidFill>
            <a:prstDash val="solid"/>
          </a:ln>
          <a:effectLst>
            <a:outerShdw blurRad="76200" dist="25400" dir="5400000" algn="bl" rotWithShape="0">
              <a:srgbClr val="3A4A5A">
                <a:alpha val="12000"/>
              </a:srgbClr>
            </a:outerShdw>
          </a:effectLst>
        </p:spPr>
        <p:txBody>
          <a:bodyPr/>
          <a:lstStyle/>
          <a:p>
            <a:endParaRPr lang="en-PH"/>
          </a:p>
        </p:txBody>
      </p:sp>
      <p:sp>
        <p:nvSpPr>
          <p:cNvPr id="14" name="Shape 12"/>
          <p:cNvSpPr/>
          <p:nvPr/>
        </p:nvSpPr>
        <p:spPr>
          <a:xfrm>
            <a:off x="8382000" y="2011680"/>
            <a:ext cx="384048" cy="54864"/>
          </a:xfrm>
          <a:prstGeom prst="rect">
            <a:avLst/>
          </a:prstGeom>
          <a:solidFill>
            <a:srgbClr val="2FD4C4"/>
          </a:solidFill>
          <a:ln/>
        </p:spPr>
        <p:txBody>
          <a:bodyPr/>
          <a:lstStyle/>
          <a:p>
            <a:endParaRPr lang="en-PH"/>
          </a:p>
        </p:txBody>
      </p:sp>
      <p:sp>
        <p:nvSpPr>
          <p:cNvPr id="15" name="Text 13"/>
          <p:cNvSpPr/>
          <p:nvPr/>
        </p:nvSpPr>
        <p:spPr>
          <a:xfrm>
            <a:off x="8382000" y="2148840"/>
            <a:ext cx="2773680" cy="457200"/>
          </a:xfrm>
          <a:prstGeom prst="rect">
            <a:avLst/>
          </a:prstGeom>
          <a:noFill/>
          <a:ln/>
        </p:spPr>
        <p:txBody>
          <a:bodyPr wrap="square" rtlCol="0" anchor="ctr"/>
          <a:lstStyle/>
          <a:p>
            <a:pPr marL="0" indent="0">
              <a:buNone/>
            </a:pPr>
            <a:r>
              <a:rPr lang="en-US" sz="1700" b="1" dirty="0">
                <a:solidFill>
                  <a:srgbClr val="0F1B2D"/>
                </a:solidFill>
                <a:latin typeface="Calibri" pitchFamily="34" charset="0"/>
                <a:ea typeface="Calibri" pitchFamily="34" charset="-122"/>
                <a:cs typeface="Calibri" pitchFamily="34" charset="-120"/>
              </a:rPr>
              <a:t>Universities &amp; Airlines</a:t>
            </a:r>
            <a:endParaRPr lang="en-US" sz="1700" dirty="0"/>
          </a:p>
        </p:txBody>
      </p:sp>
      <p:sp>
        <p:nvSpPr>
          <p:cNvPr id="16" name="Text 14"/>
          <p:cNvSpPr/>
          <p:nvPr/>
        </p:nvSpPr>
        <p:spPr>
          <a:xfrm>
            <a:off x="8382000" y="2651760"/>
            <a:ext cx="2773680" cy="3520440"/>
          </a:xfrm>
          <a:prstGeom prst="rect">
            <a:avLst/>
          </a:prstGeom>
          <a:noFill/>
          <a:ln/>
        </p:spPr>
        <p:txBody>
          <a:bodyPr wrap="square" rtlCol="0" anchor="t"/>
          <a:lstStyle/>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Universities: student records, registration, and grades.</a:t>
            </a:r>
            <a:endParaRPr lang="en-US" sz="1600" dirty="0"/>
          </a:p>
          <a:p>
            <a:pPr marL="0" indent="0">
              <a:lnSpc>
                <a:spcPct val="118000"/>
              </a:lnSpc>
              <a:buNone/>
            </a:pPr>
            <a:endParaRPr lang="en-US" sz="1600" dirty="0"/>
          </a:p>
          <a:p>
            <a:pPr marL="0" indent="0">
              <a:lnSpc>
                <a:spcPct val="118000"/>
              </a:lnSpc>
              <a:buNone/>
            </a:pPr>
            <a:r>
              <a:rPr lang="en-US" sz="1600" dirty="0">
                <a:solidFill>
                  <a:srgbClr val="1B2733"/>
                </a:solidFill>
                <a:latin typeface="Calibri" pitchFamily="34" charset="0"/>
                <a:ea typeface="Calibri" pitchFamily="34" charset="-122"/>
                <a:cs typeface="Calibri" pitchFamily="34" charset="-120"/>
              </a:rPr>
              <a:t>Airlines: reservations and schedules — among the first geographically distributed database users.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Advantages of a DBMS (1 of 2)</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83080"/>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6" name="Shape 4"/>
          <p:cNvSpPr/>
          <p:nvPr/>
        </p:nvSpPr>
        <p:spPr>
          <a:xfrm>
            <a:off x="822960" y="2231136"/>
            <a:ext cx="457200" cy="457200"/>
          </a:xfrm>
          <a:prstGeom prst="roundRect">
            <a:avLst>
              <a:gd name="adj" fmla="val 50000"/>
            </a:avLst>
          </a:prstGeom>
          <a:solidFill>
            <a:srgbClr val="0E9C8E"/>
          </a:solidFill>
          <a:ln/>
        </p:spPr>
        <p:txBody>
          <a:bodyPr/>
          <a:lstStyle/>
          <a:p>
            <a:endParaRPr lang="en-PH"/>
          </a:p>
        </p:txBody>
      </p:sp>
      <p:sp>
        <p:nvSpPr>
          <p:cNvPr id="7" name="Text 5"/>
          <p:cNvSpPr/>
          <p:nvPr/>
        </p:nvSpPr>
        <p:spPr>
          <a:xfrm>
            <a:off x="822960" y="2231136"/>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508760" y="1783080"/>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Controlling Redundancy  —  </a:t>
            </a:r>
            <a:r>
              <a:rPr lang="en-US" sz="1250" dirty="0">
                <a:solidFill>
                  <a:srgbClr val="1B2733"/>
                </a:solidFill>
                <a:latin typeface="Calibri" pitchFamily="34" charset="0"/>
                <a:ea typeface="Calibri" pitchFamily="34" charset="-122"/>
                <a:cs typeface="Calibri" pitchFamily="34" charset="-120"/>
              </a:rPr>
              <a:t>Centralized data and control by the DBA avoid unnecessary duplication.</a:t>
            </a:r>
            <a:endParaRPr lang="en-US" sz="1300" dirty="0"/>
          </a:p>
        </p:txBody>
      </p:sp>
      <p:sp>
        <p:nvSpPr>
          <p:cNvPr id="9" name="Shape 7"/>
          <p:cNvSpPr/>
          <p:nvPr/>
        </p:nvSpPr>
        <p:spPr>
          <a:xfrm>
            <a:off x="594360" y="3392424"/>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0" name="Shape 8"/>
          <p:cNvSpPr/>
          <p:nvPr/>
        </p:nvSpPr>
        <p:spPr>
          <a:xfrm>
            <a:off x="822960" y="3840480"/>
            <a:ext cx="457200" cy="457200"/>
          </a:xfrm>
          <a:prstGeom prst="roundRect">
            <a:avLst>
              <a:gd name="adj" fmla="val 50000"/>
            </a:avLst>
          </a:prstGeom>
          <a:solidFill>
            <a:srgbClr val="0E9C8E"/>
          </a:solidFill>
          <a:ln/>
        </p:spPr>
        <p:txBody>
          <a:bodyPr/>
          <a:lstStyle/>
          <a:p>
            <a:endParaRPr lang="en-PH"/>
          </a:p>
        </p:txBody>
      </p:sp>
      <p:sp>
        <p:nvSpPr>
          <p:cNvPr id="11" name="Text 9"/>
          <p:cNvSpPr/>
          <p:nvPr/>
        </p:nvSpPr>
        <p:spPr>
          <a:xfrm>
            <a:off x="822960" y="384048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508760" y="3392424"/>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Improved Data Sharing  —  </a:t>
            </a:r>
            <a:r>
              <a:rPr lang="en-US" sz="1250" dirty="0">
                <a:solidFill>
                  <a:srgbClr val="1B2733"/>
                </a:solidFill>
                <a:latin typeface="Calibri" pitchFamily="34" charset="0"/>
                <a:ea typeface="Calibri" pitchFamily="34" charset="-122"/>
                <a:cs typeface="Calibri" pitchFamily="34" charset="-120"/>
              </a:rPr>
              <a:t>A DBMS lets many application programs share the same data.</a:t>
            </a:r>
            <a:endParaRPr lang="en-US" sz="1300" dirty="0"/>
          </a:p>
        </p:txBody>
      </p:sp>
      <p:sp>
        <p:nvSpPr>
          <p:cNvPr id="13" name="Shape 11"/>
          <p:cNvSpPr/>
          <p:nvPr/>
        </p:nvSpPr>
        <p:spPr>
          <a:xfrm>
            <a:off x="594360" y="5001768"/>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4" name="Shape 12"/>
          <p:cNvSpPr/>
          <p:nvPr/>
        </p:nvSpPr>
        <p:spPr>
          <a:xfrm>
            <a:off x="822960" y="5449824"/>
            <a:ext cx="457200" cy="457200"/>
          </a:xfrm>
          <a:prstGeom prst="roundRect">
            <a:avLst>
              <a:gd name="adj" fmla="val 50000"/>
            </a:avLst>
          </a:prstGeom>
          <a:solidFill>
            <a:srgbClr val="0E9C8E"/>
          </a:solidFill>
          <a:ln/>
        </p:spPr>
        <p:txBody>
          <a:bodyPr/>
          <a:lstStyle/>
          <a:p>
            <a:endParaRPr lang="en-PH"/>
          </a:p>
        </p:txBody>
      </p:sp>
      <p:sp>
        <p:nvSpPr>
          <p:cNvPr id="15" name="Text 13"/>
          <p:cNvSpPr/>
          <p:nvPr/>
        </p:nvSpPr>
        <p:spPr>
          <a:xfrm>
            <a:off x="822960" y="5449824"/>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508760" y="5001768"/>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Data Integrity  —  </a:t>
            </a:r>
            <a:r>
              <a:rPr lang="en-US" sz="1250" dirty="0">
                <a:solidFill>
                  <a:srgbClr val="1B2733"/>
                </a:solidFill>
                <a:latin typeface="Calibri" pitchFamily="34" charset="0"/>
                <a:ea typeface="Calibri" pitchFamily="34" charset="-122"/>
                <a:cs typeface="Calibri" pitchFamily="34" charset="-120"/>
              </a:rPr>
              <a:t>Centralized control lets the administrator define constraints so data stays accurate.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Advantages of a DBMS (2 of 2)</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83080"/>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6" name="Shape 4"/>
          <p:cNvSpPr/>
          <p:nvPr/>
        </p:nvSpPr>
        <p:spPr>
          <a:xfrm>
            <a:off x="822960" y="2231136"/>
            <a:ext cx="457200" cy="457200"/>
          </a:xfrm>
          <a:prstGeom prst="roundRect">
            <a:avLst>
              <a:gd name="adj" fmla="val 50000"/>
            </a:avLst>
          </a:prstGeom>
          <a:solidFill>
            <a:srgbClr val="0E9C8E"/>
          </a:solidFill>
          <a:ln/>
        </p:spPr>
        <p:txBody>
          <a:bodyPr/>
          <a:lstStyle/>
          <a:p>
            <a:endParaRPr lang="en-PH"/>
          </a:p>
        </p:txBody>
      </p:sp>
      <p:sp>
        <p:nvSpPr>
          <p:cNvPr id="7" name="Text 5"/>
          <p:cNvSpPr/>
          <p:nvPr/>
        </p:nvSpPr>
        <p:spPr>
          <a:xfrm>
            <a:off x="822960" y="2231136"/>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508760" y="1783080"/>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Security  —  </a:t>
            </a:r>
            <a:r>
              <a:rPr lang="en-US" sz="1250" dirty="0">
                <a:solidFill>
                  <a:srgbClr val="1B2733"/>
                </a:solidFill>
                <a:latin typeface="Calibri" pitchFamily="34" charset="0"/>
                <a:ea typeface="Calibri" pitchFamily="34" charset="-122"/>
                <a:cs typeface="Calibri" pitchFamily="34" charset="-120"/>
              </a:rPr>
              <a:t>Full authority over operational data lets the DBA enforce authorization checks on sensitive data.</a:t>
            </a:r>
            <a:endParaRPr lang="en-US" sz="1300" dirty="0"/>
          </a:p>
        </p:txBody>
      </p:sp>
      <p:sp>
        <p:nvSpPr>
          <p:cNvPr id="9" name="Shape 7"/>
          <p:cNvSpPr/>
          <p:nvPr/>
        </p:nvSpPr>
        <p:spPr>
          <a:xfrm>
            <a:off x="594360" y="3392424"/>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0" name="Shape 8"/>
          <p:cNvSpPr/>
          <p:nvPr/>
        </p:nvSpPr>
        <p:spPr>
          <a:xfrm>
            <a:off x="822960" y="3840480"/>
            <a:ext cx="457200" cy="457200"/>
          </a:xfrm>
          <a:prstGeom prst="roundRect">
            <a:avLst>
              <a:gd name="adj" fmla="val 50000"/>
            </a:avLst>
          </a:prstGeom>
          <a:solidFill>
            <a:srgbClr val="0E9C8E"/>
          </a:solidFill>
          <a:ln/>
        </p:spPr>
        <p:txBody>
          <a:bodyPr/>
          <a:lstStyle/>
          <a:p>
            <a:endParaRPr lang="en-PH"/>
          </a:p>
        </p:txBody>
      </p:sp>
      <p:sp>
        <p:nvSpPr>
          <p:cNvPr id="11" name="Text 9"/>
          <p:cNvSpPr/>
          <p:nvPr/>
        </p:nvSpPr>
        <p:spPr>
          <a:xfrm>
            <a:off x="822960" y="384048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508760" y="3392424"/>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Data Consistency  —  </a:t>
            </a:r>
            <a:r>
              <a:rPr lang="en-US" sz="1250" dirty="0">
                <a:solidFill>
                  <a:srgbClr val="1B2733"/>
                </a:solidFill>
                <a:latin typeface="Calibri" pitchFamily="34" charset="0"/>
                <a:ea typeface="Calibri" pitchFamily="34" charset="-122"/>
                <a:cs typeface="Calibri" pitchFamily="34" charset="-120"/>
              </a:rPr>
              <a:t>Eliminating redundancy greatly reduces the chance of inconsistent data.</a:t>
            </a:r>
            <a:endParaRPr lang="en-US" sz="1300" dirty="0"/>
          </a:p>
        </p:txBody>
      </p:sp>
      <p:sp>
        <p:nvSpPr>
          <p:cNvPr id="13" name="Shape 11"/>
          <p:cNvSpPr/>
          <p:nvPr/>
        </p:nvSpPr>
        <p:spPr>
          <a:xfrm>
            <a:off x="594360" y="5001768"/>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4" name="Shape 12"/>
          <p:cNvSpPr/>
          <p:nvPr/>
        </p:nvSpPr>
        <p:spPr>
          <a:xfrm>
            <a:off x="822960" y="5449824"/>
            <a:ext cx="457200" cy="457200"/>
          </a:xfrm>
          <a:prstGeom prst="roundRect">
            <a:avLst>
              <a:gd name="adj" fmla="val 50000"/>
            </a:avLst>
          </a:prstGeom>
          <a:solidFill>
            <a:srgbClr val="0E9C8E"/>
          </a:solidFill>
          <a:ln/>
        </p:spPr>
        <p:txBody>
          <a:bodyPr/>
          <a:lstStyle/>
          <a:p>
            <a:endParaRPr lang="en-PH"/>
          </a:p>
        </p:txBody>
      </p:sp>
      <p:sp>
        <p:nvSpPr>
          <p:cNvPr id="15" name="Text 13"/>
          <p:cNvSpPr/>
          <p:nvPr/>
        </p:nvSpPr>
        <p:spPr>
          <a:xfrm>
            <a:off x="822960" y="5449824"/>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508760" y="5001768"/>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Efficient Data Access &amp; Standards  —  </a:t>
            </a:r>
            <a:r>
              <a:rPr lang="en-US" sz="1250" dirty="0">
                <a:solidFill>
                  <a:srgbClr val="1B2733"/>
                </a:solidFill>
                <a:latin typeface="Calibri" pitchFamily="34" charset="0"/>
                <a:ea typeface="Calibri" pitchFamily="34" charset="-122"/>
                <a:cs typeface="Calibri" pitchFamily="34" charset="-120"/>
              </a:rPr>
              <a:t>All access flows through the DBMS, and the DBA can enforce naming and quality standards.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Disadvantages of a DBMS</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594360" y="1783080"/>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6" name="Shape 4"/>
          <p:cNvSpPr/>
          <p:nvPr/>
        </p:nvSpPr>
        <p:spPr>
          <a:xfrm>
            <a:off x="822960" y="2231136"/>
            <a:ext cx="457200" cy="457200"/>
          </a:xfrm>
          <a:prstGeom prst="roundRect">
            <a:avLst>
              <a:gd name="adj" fmla="val 50000"/>
            </a:avLst>
          </a:prstGeom>
          <a:solidFill>
            <a:srgbClr val="E8674F"/>
          </a:solidFill>
          <a:ln/>
        </p:spPr>
        <p:txBody>
          <a:bodyPr/>
          <a:lstStyle/>
          <a:p>
            <a:endParaRPr lang="en-PH"/>
          </a:p>
        </p:txBody>
      </p:sp>
      <p:sp>
        <p:nvSpPr>
          <p:cNvPr id="7" name="Text 5"/>
          <p:cNvSpPr/>
          <p:nvPr/>
        </p:nvSpPr>
        <p:spPr>
          <a:xfrm>
            <a:off x="822960" y="2231136"/>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508760" y="1783080"/>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Complexity  —  </a:t>
            </a:r>
            <a:r>
              <a:rPr lang="en-US" sz="1250" dirty="0">
                <a:solidFill>
                  <a:srgbClr val="1B2733"/>
                </a:solidFill>
                <a:latin typeface="Calibri" pitchFamily="34" charset="0"/>
                <a:ea typeface="Calibri" pitchFamily="34" charset="-122"/>
                <a:cs typeface="Calibri" pitchFamily="34" charset="-120"/>
              </a:rPr>
              <a:t>Supporting many functions makes the underlying software complex to master.</a:t>
            </a:r>
            <a:endParaRPr lang="en-US" sz="1300" dirty="0"/>
          </a:p>
        </p:txBody>
      </p:sp>
      <p:sp>
        <p:nvSpPr>
          <p:cNvPr id="9" name="Shape 7"/>
          <p:cNvSpPr/>
          <p:nvPr/>
        </p:nvSpPr>
        <p:spPr>
          <a:xfrm>
            <a:off x="594360" y="3392424"/>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0" name="Shape 8"/>
          <p:cNvSpPr/>
          <p:nvPr/>
        </p:nvSpPr>
        <p:spPr>
          <a:xfrm>
            <a:off x="822960" y="3840480"/>
            <a:ext cx="457200" cy="457200"/>
          </a:xfrm>
          <a:prstGeom prst="roundRect">
            <a:avLst>
              <a:gd name="adj" fmla="val 50000"/>
            </a:avLst>
          </a:prstGeom>
          <a:solidFill>
            <a:srgbClr val="E8674F"/>
          </a:solidFill>
          <a:ln/>
        </p:spPr>
        <p:txBody>
          <a:bodyPr/>
          <a:lstStyle/>
          <a:p>
            <a:endParaRPr lang="en-PH"/>
          </a:p>
        </p:txBody>
      </p:sp>
      <p:sp>
        <p:nvSpPr>
          <p:cNvPr id="11" name="Text 9"/>
          <p:cNvSpPr/>
          <p:nvPr/>
        </p:nvSpPr>
        <p:spPr>
          <a:xfrm>
            <a:off x="822960" y="384048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508760" y="3392424"/>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Resource Cost  —  </a:t>
            </a:r>
            <a:r>
              <a:rPr lang="en-US" sz="1250" dirty="0">
                <a:solidFill>
                  <a:srgbClr val="1B2733"/>
                </a:solidFill>
                <a:latin typeface="Calibri" pitchFamily="34" charset="0"/>
                <a:ea typeface="Calibri" pitchFamily="34" charset="-122"/>
                <a:cs typeface="Calibri" pitchFamily="34" charset="-120"/>
              </a:rPr>
              <a:t>Complexity and functionality require large amounts of memory to run efficiently.</a:t>
            </a:r>
            <a:endParaRPr lang="en-US" sz="1300" dirty="0"/>
          </a:p>
        </p:txBody>
      </p:sp>
      <p:sp>
        <p:nvSpPr>
          <p:cNvPr id="13" name="Shape 11"/>
          <p:cNvSpPr/>
          <p:nvPr/>
        </p:nvSpPr>
        <p:spPr>
          <a:xfrm>
            <a:off x="594360" y="5001768"/>
            <a:ext cx="10881360" cy="1353312"/>
          </a:xfrm>
          <a:prstGeom prst="roundRect">
            <a:avLst>
              <a:gd name="adj" fmla="val 6081"/>
            </a:avLst>
          </a:prstGeom>
          <a:solidFill>
            <a:srgbClr val="FFFFFF"/>
          </a:solidFill>
          <a:ln w="12700">
            <a:solidFill>
              <a:srgbClr val="E2E8F0"/>
            </a:solidFill>
            <a:prstDash val="solid"/>
          </a:ln>
          <a:effectLst>
            <a:outerShdw blurRad="63500" dist="25400" dir="5400000" algn="bl" rotWithShape="0">
              <a:srgbClr val="3A4A5A">
                <a:alpha val="10000"/>
              </a:srgbClr>
            </a:outerShdw>
          </a:effectLst>
        </p:spPr>
        <p:txBody>
          <a:bodyPr/>
          <a:lstStyle/>
          <a:p>
            <a:endParaRPr lang="en-PH"/>
          </a:p>
        </p:txBody>
      </p:sp>
      <p:sp>
        <p:nvSpPr>
          <p:cNvPr id="14" name="Shape 12"/>
          <p:cNvSpPr/>
          <p:nvPr/>
        </p:nvSpPr>
        <p:spPr>
          <a:xfrm>
            <a:off x="822960" y="5449824"/>
            <a:ext cx="457200" cy="457200"/>
          </a:xfrm>
          <a:prstGeom prst="roundRect">
            <a:avLst>
              <a:gd name="adj" fmla="val 50000"/>
            </a:avLst>
          </a:prstGeom>
          <a:solidFill>
            <a:srgbClr val="E8674F"/>
          </a:solidFill>
          <a:ln/>
        </p:spPr>
        <p:txBody>
          <a:bodyPr/>
          <a:lstStyle/>
          <a:p>
            <a:endParaRPr lang="en-PH"/>
          </a:p>
        </p:txBody>
      </p:sp>
      <p:sp>
        <p:nvSpPr>
          <p:cNvPr id="15" name="Text 13"/>
          <p:cNvSpPr/>
          <p:nvPr/>
        </p:nvSpPr>
        <p:spPr>
          <a:xfrm>
            <a:off x="822960" y="5449824"/>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508760" y="5001768"/>
            <a:ext cx="9692640" cy="1353312"/>
          </a:xfrm>
          <a:prstGeom prst="rect">
            <a:avLst/>
          </a:prstGeom>
          <a:noFill/>
          <a:ln/>
        </p:spPr>
        <p:txBody>
          <a:bodyPr wrap="square" rtlCol="0" anchor="ctr"/>
          <a:lstStyle/>
          <a:p>
            <a:pPr marL="0" indent="0">
              <a:lnSpc>
                <a:spcPct val="110000"/>
              </a:lnSpc>
              <a:buNone/>
            </a:pPr>
            <a:r>
              <a:rPr lang="en-US" sz="1300" b="1" dirty="0">
                <a:solidFill>
                  <a:srgbClr val="0F1B2D"/>
                </a:solidFill>
                <a:latin typeface="Calibri" pitchFamily="34" charset="0"/>
                <a:ea typeface="Calibri" pitchFamily="34" charset="-122"/>
                <a:cs typeface="Calibri" pitchFamily="34" charset="-120"/>
              </a:rPr>
              <a:t>Centralized Risk &amp; Generalization  —  </a:t>
            </a:r>
            <a:r>
              <a:rPr lang="en-US" sz="1250" dirty="0">
                <a:solidFill>
                  <a:srgbClr val="1B2733"/>
                </a:solidFill>
                <a:latin typeface="Calibri" pitchFamily="34" charset="0"/>
                <a:ea typeface="Calibri" pitchFamily="34" charset="-122"/>
                <a:cs typeface="Calibri" pitchFamily="34" charset="-120"/>
              </a:rPr>
              <a:t>Any DBMS failure impacts all users, and generalized software may run some applications slower.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File System vs. Database System</a:t>
            </a:r>
            <a:endParaRPr lang="en-US" sz="2700" dirty="0"/>
          </a:p>
        </p:txBody>
      </p:sp>
      <p:sp>
        <p:nvSpPr>
          <p:cNvPr id="4" name="Shape 2"/>
          <p:cNvSpPr/>
          <p:nvPr/>
        </p:nvSpPr>
        <p:spPr>
          <a:xfrm>
            <a:off x="548640" y="1371600"/>
            <a:ext cx="502920" cy="41148"/>
          </a:xfrm>
          <a:prstGeom prst="rect">
            <a:avLst/>
          </a:prstGeom>
          <a:solidFill>
            <a:srgbClr val="F2A93B"/>
          </a:solidFill>
          <a:ln/>
        </p:spPr>
        <p:txBody>
          <a:bodyPr/>
          <a:lstStyle/>
          <a:p>
            <a:endParaRPr lang="en-PH"/>
          </a:p>
        </p:txBody>
      </p:sp>
      <p:sp>
        <p:nvSpPr>
          <p:cNvPr id="5" name="Shape 3"/>
          <p:cNvSpPr/>
          <p:nvPr/>
        </p:nvSpPr>
        <p:spPr>
          <a:xfrm>
            <a:off x="685800" y="1874520"/>
            <a:ext cx="4297680" cy="2788920"/>
          </a:xfrm>
          <a:prstGeom prst="roundRect">
            <a:avLst>
              <a:gd name="adj" fmla="val 3279"/>
            </a:avLst>
          </a:prstGeom>
          <a:solidFill>
            <a:srgbClr val="FFFFFF"/>
          </a:solidFill>
          <a:ln w="19050">
            <a:solidFill>
              <a:srgbClr val="E8674F"/>
            </a:solidFill>
            <a:prstDash val="solid"/>
          </a:ln>
        </p:spPr>
        <p:txBody>
          <a:bodyPr/>
          <a:lstStyle/>
          <a:p>
            <a:endParaRPr lang="en-PH"/>
          </a:p>
        </p:txBody>
      </p:sp>
      <p:sp>
        <p:nvSpPr>
          <p:cNvPr id="6" name="Text 4"/>
          <p:cNvSpPr/>
          <p:nvPr/>
        </p:nvSpPr>
        <p:spPr>
          <a:xfrm>
            <a:off x="685800" y="2057400"/>
            <a:ext cx="4297680" cy="365760"/>
          </a:xfrm>
          <a:prstGeom prst="rect">
            <a:avLst/>
          </a:prstGeom>
          <a:noFill/>
          <a:ln/>
        </p:spPr>
        <p:txBody>
          <a:bodyPr wrap="square" rtlCol="0" anchor="ctr"/>
          <a:lstStyle/>
          <a:p>
            <a:pPr marL="0" indent="0" algn="ctr">
              <a:buNone/>
            </a:pPr>
            <a:r>
              <a:rPr lang="en-US" sz="1400" b="1" dirty="0">
                <a:solidFill>
                  <a:srgbClr val="E8674F"/>
                </a:solidFill>
                <a:latin typeface="Calibri" pitchFamily="34" charset="0"/>
                <a:ea typeface="Calibri" pitchFamily="34" charset="-122"/>
                <a:cs typeface="Calibri" pitchFamily="34" charset="-120"/>
              </a:rPr>
              <a:t>FILE-BASED SYSTEM</a:t>
            </a:r>
            <a:endParaRPr lang="en-US" sz="1400" dirty="0"/>
          </a:p>
        </p:txBody>
      </p:sp>
      <p:sp>
        <p:nvSpPr>
          <p:cNvPr id="7" name="Shape 5"/>
          <p:cNvSpPr/>
          <p:nvPr/>
        </p:nvSpPr>
        <p:spPr>
          <a:xfrm>
            <a:off x="1005840" y="2651760"/>
            <a:ext cx="1737360" cy="640080"/>
          </a:xfrm>
          <a:prstGeom prst="roundRect">
            <a:avLst>
              <a:gd name="adj" fmla="val 8571"/>
            </a:avLst>
          </a:prstGeom>
          <a:solidFill>
            <a:srgbClr val="FDEDE9"/>
          </a:solidFill>
          <a:ln w="12700">
            <a:solidFill>
              <a:srgbClr val="E8674F"/>
            </a:solidFill>
            <a:prstDash val="solid"/>
          </a:ln>
        </p:spPr>
        <p:txBody>
          <a:bodyPr/>
          <a:lstStyle/>
          <a:p>
            <a:endParaRPr lang="en-PH"/>
          </a:p>
        </p:txBody>
      </p:sp>
      <p:sp>
        <p:nvSpPr>
          <p:cNvPr id="8" name="Text 6"/>
          <p:cNvSpPr/>
          <p:nvPr/>
        </p:nvSpPr>
        <p:spPr>
          <a:xfrm>
            <a:off x="1005840" y="2651760"/>
            <a:ext cx="1737360" cy="640080"/>
          </a:xfrm>
          <a:prstGeom prst="rect">
            <a:avLst/>
          </a:prstGeom>
          <a:noFill/>
          <a:ln/>
        </p:spPr>
        <p:txBody>
          <a:bodyPr wrap="square" rtlCol="0" anchor="ctr"/>
          <a:lstStyle/>
          <a:p>
            <a:pPr marL="0" indent="0" algn="ctr">
              <a:buNone/>
            </a:pPr>
            <a:r>
              <a:rPr lang="en-US" sz="1050" b="1" dirty="0">
                <a:solidFill>
                  <a:srgbClr val="E8674F"/>
                </a:solidFill>
                <a:latin typeface="Calibri" pitchFamily="34" charset="0"/>
                <a:ea typeface="Calibri" pitchFamily="34" charset="-122"/>
                <a:cs typeface="Calibri" pitchFamily="34" charset="-120"/>
              </a:rPr>
              <a:t>students.txt</a:t>
            </a:r>
            <a:endParaRPr lang="en-US" sz="1050" dirty="0"/>
          </a:p>
        </p:txBody>
      </p:sp>
      <p:sp>
        <p:nvSpPr>
          <p:cNvPr id="9" name="Shape 7"/>
          <p:cNvSpPr/>
          <p:nvPr/>
        </p:nvSpPr>
        <p:spPr>
          <a:xfrm>
            <a:off x="2926080" y="2651760"/>
            <a:ext cx="1737360" cy="640080"/>
          </a:xfrm>
          <a:prstGeom prst="roundRect">
            <a:avLst>
              <a:gd name="adj" fmla="val 8571"/>
            </a:avLst>
          </a:prstGeom>
          <a:solidFill>
            <a:srgbClr val="FDEDE9"/>
          </a:solidFill>
          <a:ln w="12700">
            <a:solidFill>
              <a:srgbClr val="E8674F"/>
            </a:solidFill>
            <a:prstDash val="solid"/>
          </a:ln>
        </p:spPr>
        <p:txBody>
          <a:bodyPr/>
          <a:lstStyle/>
          <a:p>
            <a:endParaRPr lang="en-PH"/>
          </a:p>
        </p:txBody>
      </p:sp>
      <p:sp>
        <p:nvSpPr>
          <p:cNvPr id="10" name="Text 8"/>
          <p:cNvSpPr/>
          <p:nvPr/>
        </p:nvSpPr>
        <p:spPr>
          <a:xfrm>
            <a:off x="2926080" y="2651760"/>
            <a:ext cx="1737360" cy="640080"/>
          </a:xfrm>
          <a:prstGeom prst="rect">
            <a:avLst/>
          </a:prstGeom>
          <a:noFill/>
          <a:ln/>
        </p:spPr>
        <p:txBody>
          <a:bodyPr wrap="square" rtlCol="0" anchor="ctr"/>
          <a:lstStyle/>
          <a:p>
            <a:pPr marL="0" indent="0" algn="ctr">
              <a:buNone/>
            </a:pPr>
            <a:r>
              <a:rPr lang="en-US" sz="1050" b="1" dirty="0">
                <a:solidFill>
                  <a:srgbClr val="E8674F"/>
                </a:solidFill>
                <a:latin typeface="Calibri" pitchFamily="34" charset="0"/>
                <a:ea typeface="Calibri" pitchFamily="34" charset="-122"/>
                <a:cs typeface="Calibri" pitchFamily="34" charset="-120"/>
              </a:rPr>
              <a:t>grades.xlsx</a:t>
            </a:r>
            <a:endParaRPr lang="en-US" sz="1050" dirty="0"/>
          </a:p>
        </p:txBody>
      </p:sp>
      <p:sp>
        <p:nvSpPr>
          <p:cNvPr id="11" name="Shape 9"/>
          <p:cNvSpPr/>
          <p:nvPr/>
        </p:nvSpPr>
        <p:spPr>
          <a:xfrm>
            <a:off x="1005840" y="3566160"/>
            <a:ext cx="1737360" cy="640080"/>
          </a:xfrm>
          <a:prstGeom prst="roundRect">
            <a:avLst>
              <a:gd name="adj" fmla="val 8571"/>
            </a:avLst>
          </a:prstGeom>
          <a:solidFill>
            <a:srgbClr val="FDEDE9"/>
          </a:solidFill>
          <a:ln w="12700">
            <a:solidFill>
              <a:srgbClr val="E8674F"/>
            </a:solidFill>
            <a:prstDash val="solid"/>
          </a:ln>
        </p:spPr>
        <p:txBody>
          <a:bodyPr/>
          <a:lstStyle/>
          <a:p>
            <a:endParaRPr lang="en-PH"/>
          </a:p>
        </p:txBody>
      </p:sp>
      <p:sp>
        <p:nvSpPr>
          <p:cNvPr id="12" name="Text 10"/>
          <p:cNvSpPr/>
          <p:nvPr/>
        </p:nvSpPr>
        <p:spPr>
          <a:xfrm>
            <a:off x="1005840" y="3566160"/>
            <a:ext cx="1737360" cy="640080"/>
          </a:xfrm>
          <a:prstGeom prst="rect">
            <a:avLst/>
          </a:prstGeom>
          <a:noFill/>
          <a:ln/>
        </p:spPr>
        <p:txBody>
          <a:bodyPr wrap="square" rtlCol="0" anchor="ctr"/>
          <a:lstStyle/>
          <a:p>
            <a:pPr marL="0" indent="0" algn="ctr">
              <a:buNone/>
            </a:pPr>
            <a:r>
              <a:rPr lang="en-US" sz="1050" b="1" dirty="0">
                <a:solidFill>
                  <a:srgbClr val="E8674F"/>
                </a:solidFill>
                <a:latin typeface="Calibri" pitchFamily="34" charset="0"/>
                <a:ea typeface="Calibri" pitchFamily="34" charset="-122"/>
                <a:cs typeface="Calibri" pitchFamily="34" charset="-120"/>
              </a:rPr>
              <a:t>enroll.csv</a:t>
            </a:r>
            <a:endParaRPr lang="en-US" sz="1050" dirty="0"/>
          </a:p>
        </p:txBody>
      </p:sp>
      <p:sp>
        <p:nvSpPr>
          <p:cNvPr id="13" name="Shape 11"/>
          <p:cNvSpPr/>
          <p:nvPr/>
        </p:nvSpPr>
        <p:spPr>
          <a:xfrm>
            <a:off x="2926080" y="3566160"/>
            <a:ext cx="1737360" cy="640080"/>
          </a:xfrm>
          <a:prstGeom prst="roundRect">
            <a:avLst>
              <a:gd name="adj" fmla="val 8571"/>
            </a:avLst>
          </a:prstGeom>
          <a:solidFill>
            <a:srgbClr val="FDEDE9"/>
          </a:solidFill>
          <a:ln w="12700">
            <a:solidFill>
              <a:srgbClr val="E8674F"/>
            </a:solidFill>
            <a:prstDash val="solid"/>
          </a:ln>
        </p:spPr>
        <p:txBody>
          <a:bodyPr/>
          <a:lstStyle/>
          <a:p>
            <a:endParaRPr lang="en-PH"/>
          </a:p>
        </p:txBody>
      </p:sp>
      <p:sp>
        <p:nvSpPr>
          <p:cNvPr id="14" name="Text 12"/>
          <p:cNvSpPr/>
          <p:nvPr/>
        </p:nvSpPr>
        <p:spPr>
          <a:xfrm>
            <a:off x="2926080" y="3566160"/>
            <a:ext cx="1737360" cy="640080"/>
          </a:xfrm>
          <a:prstGeom prst="rect">
            <a:avLst/>
          </a:prstGeom>
          <a:noFill/>
          <a:ln/>
        </p:spPr>
        <p:txBody>
          <a:bodyPr wrap="square" rtlCol="0" anchor="ctr"/>
          <a:lstStyle/>
          <a:p>
            <a:pPr marL="0" indent="0" algn="ctr">
              <a:buNone/>
            </a:pPr>
            <a:r>
              <a:rPr lang="en-US" sz="1050" b="1" dirty="0">
                <a:solidFill>
                  <a:srgbClr val="E8674F"/>
                </a:solidFill>
                <a:latin typeface="Calibri" pitchFamily="34" charset="0"/>
                <a:ea typeface="Calibri" pitchFamily="34" charset="-122"/>
                <a:cs typeface="Calibri" pitchFamily="34" charset="-120"/>
              </a:rPr>
              <a:t>faculty.doc</a:t>
            </a:r>
            <a:endParaRPr lang="en-US" sz="1050" dirty="0"/>
          </a:p>
        </p:txBody>
      </p:sp>
      <p:sp>
        <p:nvSpPr>
          <p:cNvPr id="15" name="Shape 13"/>
          <p:cNvSpPr/>
          <p:nvPr/>
        </p:nvSpPr>
        <p:spPr>
          <a:xfrm>
            <a:off x="5166360" y="3040380"/>
            <a:ext cx="914400" cy="457200"/>
          </a:xfrm>
          <a:prstGeom prst="rightArrow">
            <a:avLst/>
          </a:prstGeom>
          <a:solidFill>
            <a:srgbClr val="E2E8F0"/>
          </a:solidFill>
          <a:ln/>
        </p:spPr>
        <p:txBody>
          <a:bodyPr/>
          <a:lstStyle/>
          <a:p>
            <a:endParaRPr lang="en-PH"/>
          </a:p>
        </p:txBody>
      </p:sp>
      <p:sp>
        <p:nvSpPr>
          <p:cNvPr id="16" name="Shape 14"/>
          <p:cNvSpPr/>
          <p:nvPr/>
        </p:nvSpPr>
        <p:spPr>
          <a:xfrm>
            <a:off x="6263640" y="1874520"/>
            <a:ext cx="4297680" cy="2788920"/>
          </a:xfrm>
          <a:prstGeom prst="roundRect">
            <a:avLst>
              <a:gd name="adj" fmla="val 3279"/>
            </a:avLst>
          </a:prstGeom>
          <a:solidFill>
            <a:srgbClr val="FFFFFF"/>
          </a:solidFill>
          <a:ln w="19050">
            <a:solidFill>
              <a:srgbClr val="2FD4C4"/>
            </a:solidFill>
            <a:prstDash val="solid"/>
          </a:ln>
        </p:spPr>
        <p:txBody>
          <a:bodyPr/>
          <a:lstStyle/>
          <a:p>
            <a:endParaRPr lang="en-PH"/>
          </a:p>
        </p:txBody>
      </p:sp>
      <p:sp>
        <p:nvSpPr>
          <p:cNvPr id="17" name="Text 15"/>
          <p:cNvSpPr/>
          <p:nvPr/>
        </p:nvSpPr>
        <p:spPr>
          <a:xfrm>
            <a:off x="6263640" y="2057400"/>
            <a:ext cx="4297680" cy="365760"/>
          </a:xfrm>
          <a:prstGeom prst="rect">
            <a:avLst/>
          </a:prstGeom>
          <a:noFill/>
          <a:ln/>
        </p:spPr>
        <p:txBody>
          <a:bodyPr wrap="square" rtlCol="0" anchor="ctr"/>
          <a:lstStyle/>
          <a:p>
            <a:pPr marL="0" indent="0" algn="ctr">
              <a:buNone/>
            </a:pPr>
            <a:r>
              <a:rPr lang="en-US" sz="1400" b="1" dirty="0">
                <a:solidFill>
                  <a:srgbClr val="0E9C8E"/>
                </a:solidFill>
                <a:latin typeface="Calibri" pitchFamily="34" charset="0"/>
                <a:ea typeface="Calibri" pitchFamily="34" charset="-122"/>
                <a:cs typeface="Calibri" pitchFamily="34" charset="-120"/>
              </a:rPr>
              <a:t>DATABASE SYSTEM</a:t>
            </a:r>
            <a:endParaRPr lang="en-US" sz="1400" dirty="0"/>
          </a:p>
        </p:txBody>
      </p:sp>
      <p:sp>
        <p:nvSpPr>
          <p:cNvPr id="18" name="Shape 16"/>
          <p:cNvSpPr/>
          <p:nvPr/>
        </p:nvSpPr>
        <p:spPr>
          <a:xfrm>
            <a:off x="7498080" y="2651760"/>
            <a:ext cx="1828800" cy="777240"/>
          </a:xfrm>
          <a:prstGeom prst="roundRect">
            <a:avLst>
              <a:gd name="adj" fmla="val 9412"/>
            </a:avLst>
          </a:prstGeom>
          <a:solidFill>
            <a:srgbClr val="0F1B2D"/>
          </a:solidFill>
          <a:ln/>
        </p:spPr>
        <p:txBody>
          <a:bodyPr/>
          <a:lstStyle/>
          <a:p>
            <a:endParaRPr lang="en-PH"/>
          </a:p>
        </p:txBody>
      </p:sp>
      <p:sp>
        <p:nvSpPr>
          <p:cNvPr id="19" name="Text 17"/>
          <p:cNvSpPr/>
          <p:nvPr/>
        </p:nvSpPr>
        <p:spPr>
          <a:xfrm>
            <a:off x="7498080" y="2651760"/>
            <a:ext cx="182880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DBMS</a:t>
            </a:r>
            <a:endParaRPr lang="en-US" sz="1500" dirty="0"/>
          </a:p>
        </p:txBody>
      </p:sp>
      <p:sp>
        <p:nvSpPr>
          <p:cNvPr id="20" name="Shape 18"/>
          <p:cNvSpPr/>
          <p:nvPr/>
        </p:nvSpPr>
        <p:spPr>
          <a:xfrm>
            <a:off x="6537960" y="3703320"/>
            <a:ext cx="1188720" cy="594360"/>
          </a:xfrm>
          <a:prstGeom prst="roundRect">
            <a:avLst>
              <a:gd name="adj" fmla="val 9231"/>
            </a:avLst>
          </a:prstGeom>
          <a:solidFill>
            <a:srgbClr val="E6FBF8"/>
          </a:solidFill>
          <a:ln w="12700">
            <a:solidFill>
              <a:srgbClr val="2FD4C4"/>
            </a:solidFill>
            <a:prstDash val="solid"/>
          </a:ln>
        </p:spPr>
        <p:txBody>
          <a:bodyPr/>
          <a:lstStyle/>
          <a:p>
            <a:endParaRPr lang="en-PH"/>
          </a:p>
        </p:txBody>
      </p:sp>
      <p:sp>
        <p:nvSpPr>
          <p:cNvPr id="21" name="Text 19"/>
          <p:cNvSpPr/>
          <p:nvPr/>
        </p:nvSpPr>
        <p:spPr>
          <a:xfrm>
            <a:off x="6537960" y="3703320"/>
            <a:ext cx="1188720" cy="594360"/>
          </a:xfrm>
          <a:prstGeom prst="rect">
            <a:avLst/>
          </a:prstGeom>
          <a:noFill/>
          <a:ln/>
        </p:spPr>
        <p:txBody>
          <a:bodyPr wrap="square" rtlCol="0" anchor="ctr"/>
          <a:lstStyle/>
          <a:p>
            <a:pPr marL="0" indent="0" algn="ctr">
              <a:buNone/>
            </a:pPr>
            <a:r>
              <a:rPr lang="en-US" sz="1000" b="1" dirty="0">
                <a:solidFill>
                  <a:srgbClr val="0E9C8E"/>
                </a:solidFill>
                <a:latin typeface="Calibri" pitchFamily="34" charset="0"/>
                <a:ea typeface="Calibri" pitchFamily="34" charset="-122"/>
                <a:cs typeface="Calibri" pitchFamily="34" charset="-120"/>
              </a:rPr>
              <a:t>Students</a:t>
            </a:r>
            <a:endParaRPr lang="en-US" sz="1000" dirty="0"/>
          </a:p>
        </p:txBody>
      </p:sp>
      <p:sp>
        <p:nvSpPr>
          <p:cNvPr id="22" name="Shape 20"/>
          <p:cNvSpPr/>
          <p:nvPr/>
        </p:nvSpPr>
        <p:spPr>
          <a:xfrm>
            <a:off x="8412480" y="3429000"/>
            <a:ext cx="0" cy="274320"/>
          </a:xfrm>
          <a:prstGeom prst="line">
            <a:avLst/>
          </a:prstGeom>
          <a:noFill/>
          <a:ln w="12700">
            <a:solidFill>
              <a:srgbClr val="2FD4C4"/>
            </a:solidFill>
            <a:prstDash val="solid"/>
          </a:ln>
        </p:spPr>
        <p:txBody>
          <a:bodyPr/>
          <a:lstStyle/>
          <a:p>
            <a:endParaRPr lang="en-PH"/>
          </a:p>
        </p:txBody>
      </p:sp>
      <p:sp>
        <p:nvSpPr>
          <p:cNvPr id="23" name="Shape 21"/>
          <p:cNvSpPr/>
          <p:nvPr/>
        </p:nvSpPr>
        <p:spPr>
          <a:xfrm>
            <a:off x="7863840" y="3703320"/>
            <a:ext cx="1188720" cy="594360"/>
          </a:xfrm>
          <a:prstGeom prst="roundRect">
            <a:avLst>
              <a:gd name="adj" fmla="val 9231"/>
            </a:avLst>
          </a:prstGeom>
          <a:solidFill>
            <a:srgbClr val="E6FBF8"/>
          </a:solidFill>
          <a:ln w="12700">
            <a:solidFill>
              <a:srgbClr val="2FD4C4"/>
            </a:solidFill>
            <a:prstDash val="solid"/>
          </a:ln>
        </p:spPr>
        <p:txBody>
          <a:bodyPr/>
          <a:lstStyle/>
          <a:p>
            <a:endParaRPr lang="en-PH"/>
          </a:p>
        </p:txBody>
      </p:sp>
      <p:sp>
        <p:nvSpPr>
          <p:cNvPr id="24" name="Text 22"/>
          <p:cNvSpPr/>
          <p:nvPr/>
        </p:nvSpPr>
        <p:spPr>
          <a:xfrm>
            <a:off x="7863840" y="3703320"/>
            <a:ext cx="1188720" cy="594360"/>
          </a:xfrm>
          <a:prstGeom prst="rect">
            <a:avLst/>
          </a:prstGeom>
          <a:noFill/>
          <a:ln/>
        </p:spPr>
        <p:txBody>
          <a:bodyPr wrap="square" rtlCol="0" anchor="ctr"/>
          <a:lstStyle/>
          <a:p>
            <a:pPr marL="0" indent="0" algn="ctr">
              <a:buNone/>
            </a:pPr>
            <a:r>
              <a:rPr lang="en-US" sz="1000" b="1" dirty="0">
                <a:solidFill>
                  <a:srgbClr val="0E9C8E"/>
                </a:solidFill>
                <a:latin typeface="Calibri" pitchFamily="34" charset="0"/>
                <a:ea typeface="Calibri" pitchFamily="34" charset="-122"/>
                <a:cs typeface="Calibri" pitchFamily="34" charset="-120"/>
              </a:rPr>
              <a:t>Courses</a:t>
            </a:r>
            <a:endParaRPr lang="en-US" sz="1000" dirty="0"/>
          </a:p>
        </p:txBody>
      </p:sp>
      <p:sp>
        <p:nvSpPr>
          <p:cNvPr id="25" name="Shape 23"/>
          <p:cNvSpPr/>
          <p:nvPr/>
        </p:nvSpPr>
        <p:spPr>
          <a:xfrm flipH="1">
            <a:off x="7155182" y="3429000"/>
            <a:ext cx="1257298" cy="274320"/>
          </a:xfrm>
          <a:prstGeom prst="line">
            <a:avLst/>
          </a:prstGeom>
          <a:noFill/>
          <a:ln w="12700">
            <a:solidFill>
              <a:srgbClr val="2FD4C4"/>
            </a:solidFill>
            <a:prstDash val="solid"/>
          </a:ln>
        </p:spPr>
        <p:txBody>
          <a:bodyPr/>
          <a:lstStyle/>
          <a:p>
            <a:endParaRPr lang="en-PH"/>
          </a:p>
        </p:txBody>
      </p:sp>
      <p:sp>
        <p:nvSpPr>
          <p:cNvPr id="26" name="Shape 24"/>
          <p:cNvSpPr/>
          <p:nvPr/>
        </p:nvSpPr>
        <p:spPr>
          <a:xfrm>
            <a:off x="9189720" y="3703320"/>
            <a:ext cx="1188720" cy="594360"/>
          </a:xfrm>
          <a:prstGeom prst="roundRect">
            <a:avLst>
              <a:gd name="adj" fmla="val 9231"/>
            </a:avLst>
          </a:prstGeom>
          <a:solidFill>
            <a:srgbClr val="E6FBF8"/>
          </a:solidFill>
          <a:ln w="12700">
            <a:solidFill>
              <a:srgbClr val="2FD4C4"/>
            </a:solidFill>
            <a:prstDash val="solid"/>
          </a:ln>
        </p:spPr>
        <p:txBody>
          <a:bodyPr/>
          <a:lstStyle/>
          <a:p>
            <a:endParaRPr lang="en-PH"/>
          </a:p>
        </p:txBody>
      </p:sp>
      <p:sp>
        <p:nvSpPr>
          <p:cNvPr id="27" name="Text 25"/>
          <p:cNvSpPr/>
          <p:nvPr/>
        </p:nvSpPr>
        <p:spPr>
          <a:xfrm>
            <a:off x="9189720" y="3703320"/>
            <a:ext cx="1188720" cy="594360"/>
          </a:xfrm>
          <a:prstGeom prst="rect">
            <a:avLst/>
          </a:prstGeom>
          <a:noFill/>
          <a:ln/>
        </p:spPr>
        <p:txBody>
          <a:bodyPr wrap="square" rtlCol="0" anchor="ctr"/>
          <a:lstStyle/>
          <a:p>
            <a:pPr marL="0" indent="0" algn="ctr">
              <a:buNone/>
            </a:pPr>
            <a:r>
              <a:rPr lang="en-US" sz="1000" b="1" dirty="0">
                <a:solidFill>
                  <a:srgbClr val="0E9C8E"/>
                </a:solidFill>
                <a:latin typeface="Calibri" pitchFamily="34" charset="0"/>
                <a:ea typeface="Calibri" pitchFamily="34" charset="-122"/>
                <a:cs typeface="Calibri" pitchFamily="34" charset="-120"/>
              </a:rPr>
              <a:t>Enrollment</a:t>
            </a:r>
            <a:endParaRPr lang="en-US" sz="1000" dirty="0"/>
          </a:p>
        </p:txBody>
      </p:sp>
      <p:sp>
        <p:nvSpPr>
          <p:cNvPr id="28" name="Shape 26"/>
          <p:cNvSpPr/>
          <p:nvPr/>
        </p:nvSpPr>
        <p:spPr>
          <a:xfrm>
            <a:off x="8412480" y="3429000"/>
            <a:ext cx="1371600" cy="274320"/>
          </a:xfrm>
          <a:prstGeom prst="line">
            <a:avLst/>
          </a:prstGeom>
          <a:noFill/>
          <a:ln w="12700">
            <a:solidFill>
              <a:srgbClr val="2FD4C4"/>
            </a:solidFill>
            <a:prstDash val="solid"/>
          </a:ln>
        </p:spPr>
        <p:txBody>
          <a:bodyPr/>
          <a:lstStyle/>
          <a:p>
            <a:endParaRPr lang="en-PH"/>
          </a:p>
        </p:txBody>
      </p:sp>
      <p:sp>
        <p:nvSpPr>
          <p:cNvPr id="29" name="Shape 27"/>
          <p:cNvSpPr/>
          <p:nvPr/>
        </p:nvSpPr>
        <p:spPr>
          <a:xfrm>
            <a:off x="594360" y="5029200"/>
            <a:ext cx="10881360" cy="1188720"/>
          </a:xfrm>
          <a:prstGeom prst="roundRect">
            <a:avLst>
              <a:gd name="adj" fmla="val 7692"/>
            </a:avLst>
          </a:prstGeom>
          <a:solidFill>
            <a:srgbClr val="EEF2F7"/>
          </a:solidFill>
          <a:ln w="12700">
            <a:solidFill>
              <a:srgbClr val="E2E8F0"/>
            </a:solidFill>
            <a:prstDash val="solid"/>
          </a:ln>
        </p:spPr>
        <p:txBody>
          <a:bodyPr/>
          <a:lstStyle/>
          <a:p>
            <a:endParaRPr lang="en-PH"/>
          </a:p>
        </p:txBody>
      </p:sp>
      <p:sp>
        <p:nvSpPr>
          <p:cNvPr id="30" name="Text 28"/>
          <p:cNvSpPr/>
          <p:nvPr/>
        </p:nvSpPr>
        <p:spPr>
          <a:xfrm>
            <a:off x="868680" y="5166360"/>
            <a:ext cx="10332720" cy="914400"/>
          </a:xfrm>
          <a:prstGeom prst="rect">
            <a:avLst/>
          </a:prstGeom>
          <a:noFill/>
          <a:ln/>
        </p:spPr>
        <p:txBody>
          <a:bodyPr wrap="square" rtlCol="0" anchor="t"/>
          <a:lstStyle/>
          <a:p>
            <a:pPr marL="0" indent="0">
              <a:buNone/>
            </a:pPr>
            <a:r>
              <a:rPr lang="en-US" sz="1200" b="1" dirty="0">
                <a:solidFill>
                  <a:srgbClr val="0F1B2D"/>
                </a:solidFill>
                <a:latin typeface="Calibri" pitchFamily="34" charset="0"/>
                <a:ea typeface="Calibri" pitchFamily="34" charset="-122"/>
                <a:cs typeface="Calibri" pitchFamily="34" charset="-120"/>
              </a:rPr>
              <a:t>Example:  </a:t>
            </a:r>
            <a:r>
              <a:rPr lang="en-US" sz="1200" dirty="0">
                <a:solidFill>
                  <a:srgbClr val="1B2733"/>
                </a:solidFill>
                <a:latin typeface="Calibri" pitchFamily="34" charset="0"/>
                <a:ea typeface="Calibri" pitchFamily="34" charset="-122"/>
                <a:cs typeface="Calibri" pitchFamily="34" charset="-120"/>
              </a:rPr>
              <a:t>In a file system, updating a student's address may mean editing five different files by hand. In a database, updating one Students table updates the information everywhere it's used.</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35520-5B16-735E-D6EF-F7E8BB6E94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F33D20-20FD-546C-8BAA-C2A5EC550761}"/>
              </a:ext>
            </a:extLst>
          </p:cNvPr>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2FD4C4"/>
                </a:solidFill>
                <a:latin typeface="Calibri" pitchFamily="34" charset="0"/>
                <a:ea typeface="Calibri" pitchFamily="34" charset="-122"/>
                <a:cs typeface="Calibri" pitchFamily="34" charset="-120"/>
              </a:rPr>
              <a:t>UNIT 1 · DATABASE FOUNDATIONS</a:t>
            </a:r>
            <a:endParaRPr lang="en-US" sz="1200" dirty="0"/>
          </a:p>
        </p:txBody>
      </p:sp>
      <p:sp>
        <p:nvSpPr>
          <p:cNvPr id="3" name="Text 1">
            <a:extLst>
              <a:ext uri="{FF2B5EF4-FFF2-40B4-BE49-F238E27FC236}">
                <a16:creationId xmlns:a16="http://schemas.microsoft.com/office/drawing/2014/main" id="{51499E56-EBAA-02BB-A117-AD7F4ED3D543}"/>
              </a:ext>
            </a:extLst>
          </p:cNvPr>
          <p:cNvSpPr/>
          <p:nvPr/>
        </p:nvSpPr>
        <p:spPr>
          <a:xfrm>
            <a:off x="530352" y="658368"/>
            <a:ext cx="10607040" cy="731520"/>
          </a:xfrm>
          <a:prstGeom prst="rect">
            <a:avLst/>
          </a:prstGeom>
          <a:noFill/>
          <a:ln/>
        </p:spPr>
        <p:txBody>
          <a:bodyPr wrap="square" rtlCol="0" anchor="ctr"/>
          <a:lstStyle/>
          <a:p>
            <a:pPr marL="0" indent="0">
              <a:buNone/>
            </a:pPr>
            <a:r>
              <a:rPr lang="en-US" sz="2700" b="1" dirty="0">
                <a:solidFill>
                  <a:srgbClr val="1B2733"/>
                </a:solidFill>
                <a:latin typeface="Calibri" pitchFamily="34" charset="0"/>
                <a:ea typeface="Calibri" pitchFamily="34" charset="-122"/>
                <a:cs typeface="Calibri" pitchFamily="34" charset="-120"/>
              </a:rPr>
              <a:t>File System vs. Database System</a:t>
            </a:r>
            <a:endParaRPr lang="en-US" sz="2700" dirty="0"/>
          </a:p>
        </p:txBody>
      </p:sp>
      <p:sp>
        <p:nvSpPr>
          <p:cNvPr id="4" name="Shape 2">
            <a:extLst>
              <a:ext uri="{FF2B5EF4-FFF2-40B4-BE49-F238E27FC236}">
                <a16:creationId xmlns:a16="http://schemas.microsoft.com/office/drawing/2014/main" id="{377E3C4F-47F5-4F44-04A7-15380F3F549F}"/>
              </a:ext>
            </a:extLst>
          </p:cNvPr>
          <p:cNvSpPr/>
          <p:nvPr/>
        </p:nvSpPr>
        <p:spPr>
          <a:xfrm>
            <a:off x="548640" y="1371600"/>
            <a:ext cx="502920" cy="41148"/>
          </a:xfrm>
          <a:prstGeom prst="rect">
            <a:avLst/>
          </a:prstGeom>
          <a:solidFill>
            <a:srgbClr val="F2A93B"/>
          </a:solidFill>
          <a:ln/>
        </p:spPr>
        <p:txBody>
          <a:bodyPr/>
          <a:lstStyle/>
          <a:p>
            <a:endParaRPr lang="en-PH"/>
          </a:p>
        </p:txBody>
      </p:sp>
      <p:pic>
        <p:nvPicPr>
          <p:cNvPr id="32" name="Picture 31">
            <a:extLst>
              <a:ext uri="{FF2B5EF4-FFF2-40B4-BE49-F238E27FC236}">
                <a16:creationId xmlns:a16="http://schemas.microsoft.com/office/drawing/2014/main" id="{684D1C32-9F6C-5DA7-4B89-D1B5542170C7}"/>
              </a:ext>
            </a:extLst>
          </p:cNvPr>
          <p:cNvPicPr>
            <a:picLocks noChangeAspect="1"/>
          </p:cNvPicPr>
          <p:nvPr/>
        </p:nvPicPr>
        <p:blipFill>
          <a:blip r:embed="rId3"/>
          <a:stretch>
            <a:fillRect/>
          </a:stretch>
        </p:blipFill>
        <p:spPr>
          <a:xfrm>
            <a:off x="1605011" y="1558544"/>
            <a:ext cx="8808474" cy="3740912"/>
          </a:xfrm>
          <a:prstGeom prst="rect">
            <a:avLst/>
          </a:prstGeom>
        </p:spPr>
      </p:pic>
    </p:spTree>
    <p:extLst>
      <p:ext uri="{BB962C8B-B14F-4D97-AF65-F5344CB8AC3E}">
        <p14:creationId xmlns:p14="http://schemas.microsoft.com/office/powerpoint/2010/main" val="3426320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5">
            <a:extLst>
              <a:ext uri="{FF2B5EF4-FFF2-40B4-BE49-F238E27FC236}">
                <a16:creationId xmlns:a16="http://schemas.microsoft.com/office/drawing/2014/main" id="{24F7F93B-534A-5ED0-A324-E966D4F00738}"/>
              </a:ext>
            </a:extLst>
          </p:cNvPr>
          <p:cNvSpPr/>
          <p:nvPr/>
        </p:nvSpPr>
        <p:spPr>
          <a:xfrm>
            <a:off x="-1" y="0"/>
            <a:ext cx="12320337" cy="6858000"/>
          </a:xfrm>
          <a:prstGeom prst="rect">
            <a:avLst/>
          </a:prstGeom>
          <a:solidFill>
            <a:srgbClr val="0F1B2D"/>
          </a:solidFill>
          <a:ln/>
        </p:spPr>
        <p:txBody>
          <a:bodyPr/>
          <a:lstStyle/>
          <a:p>
            <a:endParaRPr lang="en-PH"/>
          </a:p>
        </p:txBody>
      </p:sp>
      <p:sp>
        <p:nvSpPr>
          <p:cNvPr id="2" name="Text 0"/>
          <p:cNvSpPr/>
          <p:nvPr/>
        </p:nvSpPr>
        <p:spPr>
          <a:xfrm>
            <a:off x="822960" y="594360"/>
            <a:ext cx="5486400" cy="365760"/>
          </a:xfrm>
          <a:prstGeom prst="rect">
            <a:avLst/>
          </a:prstGeom>
          <a:noFill/>
          <a:ln/>
        </p:spPr>
        <p:txBody>
          <a:bodyPr wrap="square" rtlCol="0" anchor="ctr"/>
          <a:lstStyle/>
          <a:p>
            <a:pPr marL="0" indent="0">
              <a:buNone/>
            </a:pPr>
            <a:r>
              <a:rPr lang="en-US" sz="1300" b="1" kern="0" spc="200" dirty="0">
                <a:solidFill>
                  <a:srgbClr val="2FD4C4"/>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777240" y="914400"/>
            <a:ext cx="73152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Review Questions</a:t>
            </a:r>
            <a:endParaRPr lang="en-US" sz="3000" dirty="0"/>
          </a:p>
        </p:txBody>
      </p:sp>
      <p:sp>
        <p:nvSpPr>
          <p:cNvPr id="4" name="Text 2"/>
          <p:cNvSpPr/>
          <p:nvPr/>
        </p:nvSpPr>
        <p:spPr>
          <a:xfrm>
            <a:off x="822960" y="187452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371600" y="187452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data?</a:t>
            </a:r>
            <a:endParaRPr lang="en-US" sz="1400" dirty="0"/>
          </a:p>
        </p:txBody>
      </p:sp>
      <p:sp>
        <p:nvSpPr>
          <p:cNvPr id="6" name="Text 4"/>
          <p:cNvSpPr/>
          <p:nvPr/>
        </p:nvSpPr>
        <p:spPr>
          <a:xfrm>
            <a:off x="822960" y="274320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02</a:t>
            </a:r>
            <a:endParaRPr lang="en-US" sz="1600" dirty="0"/>
          </a:p>
        </p:txBody>
      </p:sp>
      <p:sp>
        <p:nvSpPr>
          <p:cNvPr id="7" name="Text 5"/>
          <p:cNvSpPr/>
          <p:nvPr/>
        </p:nvSpPr>
        <p:spPr>
          <a:xfrm>
            <a:off x="1371600" y="274320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information?</a:t>
            </a:r>
            <a:endParaRPr lang="en-US" sz="1400" dirty="0"/>
          </a:p>
        </p:txBody>
      </p:sp>
      <p:sp>
        <p:nvSpPr>
          <p:cNvPr id="8" name="Text 6"/>
          <p:cNvSpPr/>
          <p:nvPr/>
        </p:nvSpPr>
        <p:spPr>
          <a:xfrm>
            <a:off x="822960" y="361188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03</a:t>
            </a:r>
            <a:endParaRPr lang="en-US" sz="1600" dirty="0"/>
          </a:p>
        </p:txBody>
      </p:sp>
      <p:sp>
        <p:nvSpPr>
          <p:cNvPr id="9" name="Text 7"/>
          <p:cNvSpPr/>
          <p:nvPr/>
        </p:nvSpPr>
        <p:spPr>
          <a:xfrm>
            <a:off x="1371600" y="361188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a database?</a:t>
            </a:r>
            <a:endParaRPr lang="en-US" sz="1400" dirty="0"/>
          </a:p>
        </p:txBody>
      </p:sp>
      <p:sp>
        <p:nvSpPr>
          <p:cNvPr id="10" name="Text 8"/>
          <p:cNvSpPr/>
          <p:nvPr/>
        </p:nvSpPr>
        <p:spPr>
          <a:xfrm>
            <a:off x="822960" y="448056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04</a:t>
            </a:r>
            <a:endParaRPr lang="en-US" sz="1600" dirty="0"/>
          </a:p>
        </p:txBody>
      </p:sp>
      <p:sp>
        <p:nvSpPr>
          <p:cNvPr id="11" name="Text 9"/>
          <p:cNvSpPr/>
          <p:nvPr/>
        </p:nvSpPr>
        <p:spPr>
          <a:xfrm>
            <a:off x="1371600" y="448056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a table?</a:t>
            </a:r>
            <a:endParaRPr lang="en-US" sz="1400" dirty="0"/>
          </a:p>
        </p:txBody>
      </p:sp>
      <p:sp>
        <p:nvSpPr>
          <p:cNvPr id="12" name="Text 10"/>
          <p:cNvSpPr/>
          <p:nvPr/>
        </p:nvSpPr>
        <p:spPr>
          <a:xfrm>
            <a:off x="6309360" y="187452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05</a:t>
            </a:r>
            <a:endParaRPr lang="en-US" sz="1600" dirty="0"/>
          </a:p>
        </p:txBody>
      </p:sp>
      <p:sp>
        <p:nvSpPr>
          <p:cNvPr id="13" name="Text 11"/>
          <p:cNvSpPr/>
          <p:nvPr/>
        </p:nvSpPr>
        <p:spPr>
          <a:xfrm>
            <a:off x="6858000" y="187452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a DBMS?</a:t>
            </a:r>
            <a:endParaRPr lang="en-US" sz="1400" dirty="0"/>
          </a:p>
        </p:txBody>
      </p:sp>
      <p:sp>
        <p:nvSpPr>
          <p:cNvPr id="14" name="Text 12"/>
          <p:cNvSpPr/>
          <p:nvPr/>
        </p:nvSpPr>
        <p:spPr>
          <a:xfrm>
            <a:off x="6309360" y="274320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06</a:t>
            </a:r>
            <a:endParaRPr lang="en-US" sz="1600" dirty="0"/>
          </a:p>
        </p:txBody>
      </p:sp>
      <p:sp>
        <p:nvSpPr>
          <p:cNvPr id="15" name="Text 13"/>
          <p:cNvSpPr/>
          <p:nvPr/>
        </p:nvSpPr>
        <p:spPr>
          <a:xfrm>
            <a:off x="6858000" y="274320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Name three databases you use every day.</a:t>
            </a:r>
            <a:endParaRPr lang="en-US" sz="1400" dirty="0"/>
          </a:p>
        </p:txBody>
      </p:sp>
      <p:sp>
        <p:nvSpPr>
          <p:cNvPr id="16" name="Text 14"/>
          <p:cNvSpPr/>
          <p:nvPr/>
        </p:nvSpPr>
        <p:spPr>
          <a:xfrm>
            <a:off x="6309360" y="3611880"/>
            <a:ext cx="548640" cy="640080"/>
          </a:xfrm>
          <a:prstGeom prst="rect">
            <a:avLst/>
          </a:prstGeom>
          <a:noFill/>
          <a:ln/>
        </p:spPr>
        <p:txBody>
          <a:bodyPr wrap="square" rtlCol="0" anchor="ctr"/>
          <a:lstStyle/>
          <a:p>
            <a:pPr marL="0" indent="0">
              <a:buNone/>
            </a:pPr>
            <a:r>
              <a:rPr lang="en-US" sz="1600" b="1" dirty="0">
                <a:solidFill>
                  <a:srgbClr val="F2A93B"/>
                </a:solidFill>
                <a:latin typeface="Calibri" pitchFamily="34" charset="0"/>
                <a:ea typeface="Calibri" pitchFamily="34" charset="-122"/>
                <a:cs typeface="Calibri" pitchFamily="34" charset="-120"/>
              </a:rPr>
              <a:t>07</a:t>
            </a:r>
            <a:endParaRPr lang="en-US" sz="1600" dirty="0"/>
          </a:p>
        </p:txBody>
      </p:sp>
      <p:sp>
        <p:nvSpPr>
          <p:cNvPr id="17" name="Text 15"/>
          <p:cNvSpPr/>
          <p:nvPr/>
        </p:nvSpPr>
        <p:spPr>
          <a:xfrm>
            <a:off x="6858000" y="3611880"/>
            <a:ext cx="457200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Why are databases important?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2437</Words>
  <Application>Microsoft Office PowerPoint</Application>
  <PresentationFormat>Widescreen</PresentationFormat>
  <Paragraphs>411</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Ivan Silvestre</cp:lastModifiedBy>
  <cp:revision>11</cp:revision>
  <dcterms:created xsi:type="dcterms:W3CDTF">2026-07-22T13:46:07Z</dcterms:created>
  <dcterms:modified xsi:type="dcterms:W3CDTF">2026-08-05T02:16:47Z</dcterms:modified>
</cp:coreProperties>
</file>